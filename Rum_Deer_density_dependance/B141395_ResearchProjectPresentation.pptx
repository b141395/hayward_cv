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9" r:id="rId1"/>
  </p:sldMasterIdLst>
  <p:notesMasterIdLst>
    <p:notesMasterId r:id="rId40"/>
  </p:notesMasterIdLst>
  <p:sldIdLst>
    <p:sldId id="256" r:id="rId2"/>
    <p:sldId id="257" r:id="rId3"/>
    <p:sldId id="260" r:id="rId4"/>
    <p:sldId id="262" r:id="rId5"/>
    <p:sldId id="264" r:id="rId6"/>
    <p:sldId id="316" r:id="rId7"/>
    <p:sldId id="265" r:id="rId8"/>
    <p:sldId id="268" r:id="rId9"/>
    <p:sldId id="317" r:id="rId10"/>
    <p:sldId id="267" r:id="rId11"/>
    <p:sldId id="318" r:id="rId12"/>
    <p:sldId id="271" r:id="rId13"/>
    <p:sldId id="296" r:id="rId14"/>
    <p:sldId id="269" r:id="rId15"/>
    <p:sldId id="270" r:id="rId16"/>
    <p:sldId id="272" r:id="rId17"/>
    <p:sldId id="273" r:id="rId18"/>
    <p:sldId id="279" r:id="rId19"/>
    <p:sldId id="280" r:id="rId20"/>
    <p:sldId id="319" r:id="rId21"/>
    <p:sldId id="282" r:id="rId22"/>
    <p:sldId id="306" r:id="rId23"/>
    <p:sldId id="275" r:id="rId24"/>
    <p:sldId id="310" r:id="rId25"/>
    <p:sldId id="315" r:id="rId26"/>
    <p:sldId id="308" r:id="rId27"/>
    <p:sldId id="314" r:id="rId28"/>
    <p:sldId id="307" r:id="rId29"/>
    <p:sldId id="313" r:id="rId30"/>
    <p:sldId id="311" r:id="rId31"/>
    <p:sldId id="294" r:id="rId32"/>
    <p:sldId id="277" r:id="rId33"/>
    <p:sldId id="278" r:id="rId34"/>
    <p:sldId id="312" r:id="rId35"/>
    <p:sldId id="300" r:id="rId36"/>
    <p:sldId id="297" r:id="rId37"/>
    <p:sldId id="301" r:id="rId38"/>
    <p:sldId id="298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88B2CE1-1B22-5B23-D758-02BB684B1D74}" v="243" dt="2024-08-01T09:21:33.590"/>
    <p1510:client id="{8D518D84-0338-7B75-713C-0194FB612C8D}" v="1920" dt="2024-07-30T15:57:24.007"/>
    <p1510:client id="{B62425A1-E888-4C05-91B9-1B350392AD87}" v="2569" dt="2024-07-31T02:00:05.195"/>
    <p1510:client id="{C6528790-773C-5900-7E5C-184F92441576}" v="1313" dt="2024-08-01T00:51:20.723"/>
    <p1510:client id="{F748AE0F-9271-68ED-F59B-627835243808}" v="13" dt="2024-07-31T06:51:19.85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094B14B-4B3C-477F-935B-25FC325BB707}" type="doc">
      <dgm:prSet loTypeId="urn:microsoft.com/office/officeart/2005/8/layout/process4" loCatId="process" qsTypeId="urn:microsoft.com/office/officeart/2005/8/quickstyle/simple1" qsCatId="simple" csTypeId="urn:microsoft.com/office/officeart/2005/8/colors/accent1_3" csCatId="accent1" phldr="1"/>
      <dgm:spPr/>
    </dgm:pt>
    <dgm:pt modelId="{02BDEA79-7CC2-4A0A-B336-97B5CEB10A70}">
      <dgm:prSet phldr="0"/>
      <dgm:spPr/>
      <dgm:t>
        <a:bodyPr/>
        <a:lstStyle/>
        <a:p>
          <a:pPr algn="l" rtl="0">
            <a:lnSpc>
              <a:spcPct val="110000"/>
            </a:lnSpc>
          </a:pPr>
          <a:r>
            <a:rPr lang="en-US" b="1" dirty="0">
              <a:solidFill>
                <a:schemeClr val="bg2"/>
              </a:solidFill>
              <a:latin typeface="Calibri"/>
              <a:cs typeface="Arial"/>
            </a:rPr>
            <a:t>Fecundity (Hinds)</a:t>
          </a:r>
        </a:p>
      </dgm:t>
    </dgm:pt>
    <dgm:pt modelId="{D7C2BCA6-E52D-493E-9176-0E40543936A2}" type="parTrans" cxnId="{F1DA2233-4B26-4C50-BB56-0BB45609C061}">
      <dgm:prSet/>
      <dgm:spPr/>
    </dgm:pt>
    <dgm:pt modelId="{9A14C604-702D-427D-9D1F-478D866F0B7A}" type="sibTrans" cxnId="{F1DA2233-4B26-4C50-BB56-0BB45609C061}">
      <dgm:prSet/>
      <dgm:spPr/>
      <dgm:t>
        <a:bodyPr/>
        <a:lstStyle/>
        <a:p>
          <a:endParaRPr lang="en-US"/>
        </a:p>
      </dgm:t>
    </dgm:pt>
    <dgm:pt modelId="{0A33EA6E-C6D9-4519-AFF2-4E8C122214E7}">
      <dgm:prSet phldr="0"/>
      <dgm:spPr/>
      <dgm:t>
        <a:bodyPr/>
        <a:lstStyle/>
        <a:p>
          <a:pPr algn="l" rtl="0">
            <a:lnSpc>
              <a:spcPct val="110000"/>
            </a:lnSpc>
          </a:pPr>
          <a:r>
            <a:rPr lang="en-US" b="1" dirty="0">
              <a:solidFill>
                <a:schemeClr val="bg2"/>
              </a:solidFill>
              <a:latin typeface="Calibri"/>
              <a:cs typeface="Arial"/>
            </a:rPr>
            <a:t>Birth Weight (Calves)</a:t>
          </a:r>
          <a:endParaRPr lang="en-US" b="0" dirty="0">
            <a:solidFill>
              <a:schemeClr val="bg2"/>
            </a:solidFill>
            <a:latin typeface="Calibri"/>
            <a:cs typeface="Calibri"/>
          </a:endParaRPr>
        </a:p>
      </dgm:t>
    </dgm:pt>
    <dgm:pt modelId="{5BB701C5-8DEA-4470-ACDB-AFCC7E0CBE44}" type="parTrans" cxnId="{BC4154BB-4361-4BA5-93FE-4735DF2BF623}">
      <dgm:prSet/>
      <dgm:spPr/>
    </dgm:pt>
    <dgm:pt modelId="{AC8CF3D7-A9D4-45CF-AFB3-C9086DECFACE}" type="sibTrans" cxnId="{BC4154BB-4361-4BA5-93FE-4735DF2BF623}">
      <dgm:prSet/>
      <dgm:spPr/>
      <dgm:t>
        <a:bodyPr/>
        <a:lstStyle/>
        <a:p>
          <a:endParaRPr lang="en-US"/>
        </a:p>
      </dgm:t>
    </dgm:pt>
    <dgm:pt modelId="{DB47360E-ACE9-4767-8071-C62C95597563}">
      <dgm:prSet phldr="0"/>
      <dgm:spPr/>
      <dgm:t>
        <a:bodyPr/>
        <a:lstStyle/>
        <a:p>
          <a:pPr algn="l" rtl="0">
            <a:lnSpc>
              <a:spcPct val="110000"/>
            </a:lnSpc>
          </a:pPr>
          <a:r>
            <a:rPr lang="en-US" b="1" dirty="0">
              <a:solidFill>
                <a:schemeClr val="bg2"/>
              </a:solidFill>
              <a:latin typeface="Calibri"/>
              <a:cs typeface="Arial"/>
            </a:rPr>
            <a:t>First Winter Survival (Calves)</a:t>
          </a:r>
          <a:endParaRPr lang="en-US" b="0" dirty="0">
            <a:solidFill>
              <a:schemeClr val="bg2"/>
            </a:solidFill>
            <a:latin typeface="Calibri"/>
            <a:cs typeface="Calibri"/>
          </a:endParaRPr>
        </a:p>
      </dgm:t>
    </dgm:pt>
    <dgm:pt modelId="{4C8C73DD-70FC-4254-A787-C772B6E1F599}" type="parTrans" cxnId="{8BDEBD9E-D7BC-42F1-A680-F51D4ABE71E2}">
      <dgm:prSet/>
      <dgm:spPr/>
    </dgm:pt>
    <dgm:pt modelId="{EB389EBC-7641-4FFC-8367-405EF7E1E6AB}" type="sibTrans" cxnId="{8BDEBD9E-D7BC-42F1-A680-F51D4ABE71E2}">
      <dgm:prSet/>
      <dgm:spPr/>
      <dgm:t>
        <a:bodyPr/>
        <a:lstStyle/>
        <a:p>
          <a:endParaRPr lang="en-US"/>
        </a:p>
      </dgm:t>
    </dgm:pt>
    <dgm:pt modelId="{5D11DA1E-12E9-4567-BC39-1A8CB7D4DE92}">
      <dgm:prSet phldr="0"/>
      <dgm:spPr/>
      <dgm:t>
        <a:bodyPr/>
        <a:lstStyle/>
        <a:p>
          <a:pPr algn="l" rtl="0">
            <a:lnSpc>
              <a:spcPct val="110000"/>
            </a:lnSpc>
          </a:pPr>
          <a:r>
            <a:rPr lang="en-US" b="1" dirty="0">
              <a:solidFill>
                <a:schemeClr val="bg2"/>
              </a:solidFill>
              <a:latin typeface="Calibri"/>
              <a:cs typeface="Arial"/>
            </a:rPr>
            <a:t>Yearling Spike Length (Male Calves)</a:t>
          </a:r>
          <a:endParaRPr lang="en-US" b="0" dirty="0">
            <a:solidFill>
              <a:schemeClr val="bg2"/>
            </a:solidFill>
            <a:latin typeface="Calibri"/>
            <a:cs typeface="Calibri"/>
          </a:endParaRPr>
        </a:p>
      </dgm:t>
    </dgm:pt>
    <dgm:pt modelId="{81B599F1-C456-4FC5-AF96-9F66191CDD35}" type="parTrans" cxnId="{FC19E103-0458-4D7B-8077-BB976D8175E0}">
      <dgm:prSet/>
      <dgm:spPr/>
    </dgm:pt>
    <dgm:pt modelId="{A8EB2D1E-C3CF-48F8-8A3B-78CC7866C7C1}" type="sibTrans" cxnId="{FC19E103-0458-4D7B-8077-BB976D8175E0}">
      <dgm:prSet/>
      <dgm:spPr/>
      <dgm:t>
        <a:bodyPr/>
        <a:lstStyle/>
        <a:p>
          <a:endParaRPr lang="en-US"/>
        </a:p>
      </dgm:t>
    </dgm:pt>
    <dgm:pt modelId="{E11D2EC9-8145-414E-A1D0-AE867B94BC4C}" type="pres">
      <dgm:prSet presAssocID="{2094B14B-4B3C-477F-935B-25FC325BB707}" presName="Name0" presStyleCnt="0">
        <dgm:presLayoutVars>
          <dgm:dir/>
          <dgm:animLvl val="lvl"/>
          <dgm:resizeHandles val="exact"/>
        </dgm:presLayoutVars>
      </dgm:prSet>
      <dgm:spPr/>
    </dgm:pt>
    <dgm:pt modelId="{1F1CCD42-099A-430D-AEA0-6771F180F65C}" type="pres">
      <dgm:prSet presAssocID="{02BDEA79-7CC2-4A0A-B336-97B5CEB10A70}" presName="boxAndChildren" presStyleCnt="0"/>
      <dgm:spPr/>
    </dgm:pt>
    <dgm:pt modelId="{F28D73EC-630B-4CE9-8A44-81D340E2B13D}" type="pres">
      <dgm:prSet presAssocID="{02BDEA79-7CC2-4A0A-B336-97B5CEB10A70}" presName="parentTextBox" presStyleLbl="node1" presStyleIdx="0" presStyleCnt="4"/>
      <dgm:spPr/>
    </dgm:pt>
    <dgm:pt modelId="{DA02EC1A-A189-4078-90C1-AA9EFB1A0187}" type="pres">
      <dgm:prSet presAssocID="{A8EB2D1E-C3CF-48F8-8A3B-78CC7866C7C1}" presName="sp" presStyleCnt="0"/>
      <dgm:spPr/>
    </dgm:pt>
    <dgm:pt modelId="{39AC1252-3B28-46DA-BF64-C8D57ACE5467}" type="pres">
      <dgm:prSet presAssocID="{5D11DA1E-12E9-4567-BC39-1A8CB7D4DE92}" presName="arrowAndChildren" presStyleCnt="0"/>
      <dgm:spPr/>
    </dgm:pt>
    <dgm:pt modelId="{E591BA23-89D0-41DF-ABA2-C67D31A74821}" type="pres">
      <dgm:prSet presAssocID="{5D11DA1E-12E9-4567-BC39-1A8CB7D4DE92}" presName="parentTextArrow" presStyleLbl="node1" presStyleIdx="1" presStyleCnt="4"/>
      <dgm:spPr/>
    </dgm:pt>
    <dgm:pt modelId="{1B2453AA-493C-4209-BC33-757054C0A867}" type="pres">
      <dgm:prSet presAssocID="{EB389EBC-7641-4FFC-8367-405EF7E1E6AB}" presName="sp" presStyleCnt="0"/>
      <dgm:spPr/>
    </dgm:pt>
    <dgm:pt modelId="{D3BA7BB4-285E-4EC3-B370-2D38F7626DA6}" type="pres">
      <dgm:prSet presAssocID="{DB47360E-ACE9-4767-8071-C62C95597563}" presName="arrowAndChildren" presStyleCnt="0"/>
      <dgm:spPr/>
    </dgm:pt>
    <dgm:pt modelId="{800E105E-EC3B-4CE6-9471-1CE669683F63}" type="pres">
      <dgm:prSet presAssocID="{DB47360E-ACE9-4767-8071-C62C95597563}" presName="parentTextArrow" presStyleLbl="node1" presStyleIdx="2" presStyleCnt="4"/>
      <dgm:spPr/>
    </dgm:pt>
    <dgm:pt modelId="{E7A9008F-EE7A-43C7-AC18-1B3AF58C7610}" type="pres">
      <dgm:prSet presAssocID="{AC8CF3D7-A9D4-45CF-AFB3-C9086DECFACE}" presName="sp" presStyleCnt="0"/>
      <dgm:spPr/>
    </dgm:pt>
    <dgm:pt modelId="{1155128F-16E7-42E6-8CED-C6C618E623EF}" type="pres">
      <dgm:prSet presAssocID="{0A33EA6E-C6D9-4519-AFF2-4E8C122214E7}" presName="arrowAndChildren" presStyleCnt="0"/>
      <dgm:spPr/>
    </dgm:pt>
    <dgm:pt modelId="{2ED745B7-2498-4227-BA53-B26B91C4188A}" type="pres">
      <dgm:prSet presAssocID="{0A33EA6E-C6D9-4519-AFF2-4E8C122214E7}" presName="parentTextArrow" presStyleLbl="node1" presStyleIdx="3" presStyleCnt="4"/>
      <dgm:spPr/>
    </dgm:pt>
  </dgm:ptLst>
  <dgm:cxnLst>
    <dgm:cxn modelId="{FC19E103-0458-4D7B-8077-BB976D8175E0}" srcId="{2094B14B-4B3C-477F-935B-25FC325BB707}" destId="{5D11DA1E-12E9-4567-BC39-1A8CB7D4DE92}" srcOrd="2" destOrd="0" parTransId="{81B599F1-C456-4FC5-AF96-9F66191CDD35}" sibTransId="{A8EB2D1E-C3CF-48F8-8A3B-78CC7866C7C1}"/>
    <dgm:cxn modelId="{3785350B-E295-4046-A9F7-32E0BA34DDC4}" type="presOf" srcId="{02BDEA79-7CC2-4A0A-B336-97B5CEB10A70}" destId="{F28D73EC-630B-4CE9-8A44-81D340E2B13D}" srcOrd="0" destOrd="0" presId="urn:microsoft.com/office/officeart/2005/8/layout/process4"/>
    <dgm:cxn modelId="{21995E0D-C6DE-4633-ABEF-E69FE3518882}" type="presOf" srcId="{5D11DA1E-12E9-4567-BC39-1A8CB7D4DE92}" destId="{E591BA23-89D0-41DF-ABA2-C67D31A74821}" srcOrd="0" destOrd="0" presId="urn:microsoft.com/office/officeart/2005/8/layout/process4"/>
    <dgm:cxn modelId="{F1DA2233-4B26-4C50-BB56-0BB45609C061}" srcId="{2094B14B-4B3C-477F-935B-25FC325BB707}" destId="{02BDEA79-7CC2-4A0A-B336-97B5CEB10A70}" srcOrd="3" destOrd="0" parTransId="{D7C2BCA6-E52D-493E-9176-0E40543936A2}" sibTransId="{9A14C604-702D-427D-9D1F-478D866F0B7A}"/>
    <dgm:cxn modelId="{670F2572-C56A-47A6-B89A-6B3C4844EBA5}" type="presOf" srcId="{DB47360E-ACE9-4767-8071-C62C95597563}" destId="{800E105E-EC3B-4CE6-9471-1CE669683F63}" srcOrd="0" destOrd="0" presId="urn:microsoft.com/office/officeart/2005/8/layout/process4"/>
    <dgm:cxn modelId="{BEC85580-8D0D-40DC-B58E-D5C7D57E4ECA}" type="presOf" srcId="{2094B14B-4B3C-477F-935B-25FC325BB707}" destId="{E11D2EC9-8145-414E-A1D0-AE867B94BC4C}" srcOrd="0" destOrd="0" presId="urn:microsoft.com/office/officeart/2005/8/layout/process4"/>
    <dgm:cxn modelId="{8BDEBD9E-D7BC-42F1-A680-F51D4ABE71E2}" srcId="{2094B14B-4B3C-477F-935B-25FC325BB707}" destId="{DB47360E-ACE9-4767-8071-C62C95597563}" srcOrd="1" destOrd="0" parTransId="{4C8C73DD-70FC-4254-A787-C772B6E1F599}" sibTransId="{EB389EBC-7641-4FFC-8367-405EF7E1E6AB}"/>
    <dgm:cxn modelId="{F62BDEAD-1916-4BB4-A3CE-A73777B75A66}" type="presOf" srcId="{0A33EA6E-C6D9-4519-AFF2-4E8C122214E7}" destId="{2ED745B7-2498-4227-BA53-B26B91C4188A}" srcOrd="0" destOrd="0" presId="urn:microsoft.com/office/officeart/2005/8/layout/process4"/>
    <dgm:cxn modelId="{BC4154BB-4361-4BA5-93FE-4735DF2BF623}" srcId="{2094B14B-4B3C-477F-935B-25FC325BB707}" destId="{0A33EA6E-C6D9-4519-AFF2-4E8C122214E7}" srcOrd="0" destOrd="0" parTransId="{5BB701C5-8DEA-4470-ACDB-AFCC7E0CBE44}" sibTransId="{AC8CF3D7-A9D4-45CF-AFB3-C9086DECFACE}"/>
    <dgm:cxn modelId="{D7DFBF6A-8B77-4F4A-A978-63A6A7ACFF2E}" type="presParOf" srcId="{E11D2EC9-8145-414E-A1D0-AE867B94BC4C}" destId="{1F1CCD42-099A-430D-AEA0-6771F180F65C}" srcOrd="0" destOrd="0" presId="urn:microsoft.com/office/officeart/2005/8/layout/process4"/>
    <dgm:cxn modelId="{361D6719-3053-4FA6-8902-0CB464CAD766}" type="presParOf" srcId="{1F1CCD42-099A-430D-AEA0-6771F180F65C}" destId="{F28D73EC-630B-4CE9-8A44-81D340E2B13D}" srcOrd="0" destOrd="0" presId="urn:microsoft.com/office/officeart/2005/8/layout/process4"/>
    <dgm:cxn modelId="{308D662A-716D-4444-A03B-194E7C2744E9}" type="presParOf" srcId="{E11D2EC9-8145-414E-A1D0-AE867B94BC4C}" destId="{DA02EC1A-A189-4078-90C1-AA9EFB1A0187}" srcOrd="1" destOrd="0" presId="urn:microsoft.com/office/officeart/2005/8/layout/process4"/>
    <dgm:cxn modelId="{AAB7CB0B-78D9-4657-B079-F3D4A55FFE0F}" type="presParOf" srcId="{E11D2EC9-8145-414E-A1D0-AE867B94BC4C}" destId="{39AC1252-3B28-46DA-BF64-C8D57ACE5467}" srcOrd="2" destOrd="0" presId="urn:microsoft.com/office/officeart/2005/8/layout/process4"/>
    <dgm:cxn modelId="{723544BF-3248-49A3-9927-07477E7DC668}" type="presParOf" srcId="{39AC1252-3B28-46DA-BF64-C8D57ACE5467}" destId="{E591BA23-89D0-41DF-ABA2-C67D31A74821}" srcOrd="0" destOrd="0" presId="urn:microsoft.com/office/officeart/2005/8/layout/process4"/>
    <dgm:cxn modelId="{7E01A2BA-4013-46EC-8A0A-DABB4911AC47}" type="presParOf" srcId="{E11D2EC9-8145-414E-A1D0-AE867B94BC4C}" destId="{1B2453AA-493C-4209-BC33-757054C0A867}" srcOrd="3" destOrd="0" presId="urn:microsoft.com/office/officeart/2005/8/layout/process4"/>
    <dgm:cxn modelId="{5BF1BBFD-1F3E-4960-AE59-A340B035D8D3}" type="presParOf" srcId="{E11D2EC9-8145-414E-A1D0-AE867B94BC4C}" destId="{D3BA7BB4-285E-4EC3-B370-2D38F7626DA6}" srcOrd="4" destOrd="0" presId="urn:microsoft.com/office/officeart/2005/8/layout/process4"/>
    <dgm:cxn modelId="{839E1F8E-7A10-410C-A06B-58FA14700457}" type="presParOf" srcId="{D3BA7BB4-285E-4EC3-B370-2D38F7626DA6}" destId="{800E105E-EC3B-4CE6-9471-1CE669683F63}" srcOrd="0" destOrd="0" presId="urn:microsoft.com/office/officeart/2005/8/layout/process4"/>
    <dgm:cxn modelId="{6858F3D4-54B4-4F2B-B808-201FB7652B20}" type="presParOf" srcId="{E11D2EC9-8145-414E-A1D0-AE867B94BC4C}" destId="{E7A9008F-EE7A-43C7-AC18-1B3AF58C7610}" srcOrd="5" destOrd="0" presId="urn:microsoft.com/office/officeart/2005/8/layout/process4"/>
    <dgm:cxn modelId="{E89945C4-F553-4229-981A-901DDE6B6A00}" type="presParOf" srcId="{E11D2EC9-8145-414E-A1D0-AE867B94BC4C}" destId="{1155128F-16E7-42E6-8CED-C6C618E623EF}" srcOrd="6" destOrd="0" presId="urn:microsoft.com/office/officeart/2005/8/layout/process4"/>
    <dgm:cxn modelId="{6F3C27EC-292D-4768-BEFF-EF03121AC401}" type="presParOf" srcId="{1155128F-16E7-42E6-8CED-C6C618E623EF}" destId="{2ED745B7-2498-4227-BA53-B26B91C4188A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28D73EC-630B-4CE9-8A44-81D340E2B13D}">
      <dsp:nvSpPr>
        <dsp:cNvPr id="0" name=""/>
        <dsp:cNvSpPr/>
      </dsp:nvSpPr>
      <dsp:spPr>
        <a:xfrm>
          <a:off x="0" y="3568839"/>
          <a:ext cx="5468195" cy="780774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77800" rIns="177800" bIns="177800" numCol="1" spcCol="1270" anchor="ctr" anchorCtr="0">
          <a:noAutofit/>
        </a:bodyPr>
        <a:lstStyle/>
        <a:p>
          <a:pPr marL="0" lvl="0" indent="0" algn="l" defTabSz="1111250" rtl="0">
            <a:lnSpc>
              <a:spcPct val="11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 dirty="0">
              <a:solidFill>
                <a:schemeClr val="bg2"/>
              </a:solidFill>
              <a:latin typeface="Calibri"/>
              <a:cs typeface="Arial"/>
            </a:rPr>
            <a:t>Fecundity (Hinds)</a:t>
          </a:r>
        </a:p>
      </dsp:txBody>
      <dsp:txXfrm>
        <a:off x="0" y="3568839"/>
        <a:ext cx="5468195" cy="780774"/>
      </dsp:txXfrm>
    </dsp:sp>
    <dsp:sp modelId="{E591BA23-89D0-41DF-ABA2-C67D31A74821}">
      <dsp:nvSpPr>
        <dsp:cNvPr id="0" name=""/>
        <dsp:cNvSpPr/>
      </dsp:nvSpPr>
      <dsp:spPr>
        <a:xfrm rot="10800000">
          <a:off x="0" y="2379719"/>
          <a:ext cx="5468195" cy="1200831"/>
        </a:xfrm>
        <a:prstGeom prst="upArrowCallout">
          <a:avLst/>
        </a:prstGeom>
        <a:solidFill>
          <a:schemeClr val="accent1">
            <a:shade val="80000"/>
            <a:hueOff val="31308"/>
            <a:satOff val="-1529"/>
            <a:lumOff val="897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77800" rIns="177800" bIns="177800" numCol="1" spcCol="1270" anchor="ctr" anchorCtr="0">
          <a:noAutofit/>
        </a:bodyPr>
        <a:lstStyle/>
        <a:p>
          <a:pPr marL="0" lvl="0" indent="0" algn="l" defTabSz="1111250" rtl="0">
            <a:lnSpc>
              <a:spcPct val="11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 dirty="0">
              <a:solidFill>
                <a:schemeClr val="bg2"/>
              </a:solidFill>
              <a:latin typeface="Calibri"/>
              <a:cs typeface="Arial"/>
            </a:rPr>
            <a:t>Yearling Spike Length (Male Calves)</a:t>
          </a:r>
          <a:endParaRPr lang="en-US" sz="2500" b="0" kern="1200" dirty="0">
            <a:solidFill>
              <a:schemeClr val="bg2"/>
            </a:solidFill>
            <a:latin typeface="Calibri"/>
            <a:cs typeface="Calibri"/>
          </a:endParaRPr>
        </a:p>
      </dsp:txBody>
      <dsp:txXfrm rot="10800000">
        <a:off x="0" y="2379719"/>
        <a:ext cx="5468195" cy="780264"/>
      </dsp:txXfrm>
    </dsp:sp>
    <dsp:sp modelId="{800E105E-EC3B-4CE6-9471-1CE669683F63}">
      <dsp:nvSpPr>
        <dsp:cNvPr id="0" name=""/>
        <dsp:cNvSpPr/>
      </dsp:nvSpPr>
      <dsp:spPr>
        <a:xfrm rot="10800000">
          <a:off x="0" y="1190599"/>
          <a:ext cx="5468195" cy="1200831"/>
        </a:xfrm>
        <a:prstGeom prst="upArrowCallout">
          <a:avLst/>
        </a:prstGeom>
        <a:solidFill>
          <a:schemeClr val="accent1">
            <a:shade val="80000"/>
            <a:hueOff val="62617"/>
            <a:satOff val="-3057"/>
            <a:lumOff val="1795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77800" rIns="177800" bIns="177800" numCol="1" spcCol="1270" anchor="ctr" anchorCtr="0">
          <a:noAutofit/>
        </a:bodyPr>
        <a:lstStyle/>
        <a:p>
          <a:pPr marL="0" lvl="0" indent="0" algn="l" defTabSz="1111250" rtl="0">
            <a:lnSpc>
              <a:spcPct val="11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 dirty="0">
              <a:solidFill>
                <a:schemeClr val="bg2"/>
              </a:solidFill>
              <a:latin typeface="Calibri"/>
              <a:cs typeface="Arial"/>
            </a:rPr>
            <a:t>First Winter Survival (Calves)</a:t>
          </a:r>
          <a:endParaRPr lang="en-US" sz="2500" b="0" kern="1200" dirty="0">
            <a:solidFill>
              <a:schemeClr val="bg2"/>
            </a:solidFill>
            <a:latin typeface="Calibri"/>
            <a:cs typeface="Calibri"/>
          </a:endParaRPr>
        </a:p>
      </dsp:txBody>
      <dsp:txXfrm rot="10800000">
        <a:off x="0" y="1190599"/>
        <a:ext cx="5468195" cy="780264"/>
      </dsp:txXfrm>
    </dsp:sp>
    <dsp:sp modelId="{2ED745B7-2498-4227-BA53-B26B91C4188A}">
      <dsp:nvSpPr>
        <dsp:cNvPr id="0" name=""/>
        <dsp:cNvSpPr/>
      </dsp:nvSpPr>
      <dsp:spPr>
        <a:xfrm rot="10800000">
          <a:off x="0" y="1479"/>
          <a:ext cx="5468195" cy="1200831"/>
        </a:xfrm>
        <a:prstGeom prst="upArrowCallout">
          <a:avLst/>
        </a:prstGeom>
        <a:solidFill>
          <a:schemeClr val="accent1">
            <a:shade val="80000"/>
            <a:hueOff val="93925"/>
            <a:satOff val="-4586"/>
            <a:lumOff val="2693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77800" rIns="177800" bIns="177800" numCol="1" spcCol="1270" anchor="ctr" anchorCtr="0">
          <a:noAutofit/>
        </a:bodyPr>
        <a:lstStyle/>
        <a:p>
          <a:pPr marL="0" lvl="0" indent="0" algn="l" defTabSz="1111250" rtl="0">
            <a:lnSpc>
              <a:spcPct val="11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 dirty="0">
              <a:solidFill>
                <a:schemeClr val="bg2"/>
              </a:solidFill>
              <a:latin typeface="Calibri"/>
              <a:cs typeface="Arial"/>
            </a:rPr>
            <a:t>Birth Weight (Calves)</a:t>
          </a:r>
          <a:endParaRPr lang="en-US" sz="2500" b="0" kern="1200" dirty="0">
            <a:solidFill>
              <a:schemeClr val="bg2"/>
            </a:solidFill>
            <a:latin typeface="Calibri"/>
            <a:cs typeface="Calibri"/>
          </a:endParaRPr>
        </a:p>
      </dsp:txBody>
      <dsp:txXfrm rot="10800000">
        <a:off x="0" y="1479"/>
        <a:ext cx="5468195" cy="78026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45DC84-3E77-44DC-9ED4-716A465FB061}" type="datetimeFigureOut">
              <a:t>8/1/2024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E814FB-4484-4CC2-BE8B-BB383360BDD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9495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lnSpc>
                <a:spcPct val="110000"/>
              </a:lnSpc>
              <a:spcBef>
                <a:spcPts val="1000"/>
              </a:spcBef>
              <a:buFont typeface="Arial,Sans-Serif"/>
              <a:buChar char="•"/>
            </a:pP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285750" indent="-285750">
              <a:lnSpc>
                <a:spcPct val="110000"/>
              </a:lnSpc>
              <a:spcBef>
                <a:spcPts val="1000"/>
              </a:spcBef>
              <a:buFont typeface="Arial,Sans-Serif"/>
              <a:buChar char="•"/>
            </a:pPr>
            <a:r>
              <a:rPr lang="en-US" dirty="0"/>
              <a:t>Ecological data is inherently noisy, and models often explain little variance. 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285750" indent="-285750">
              <a:lnSpc>
                <a:spcPct val="110000"/>
              </a:lnSpc>
              <a:spcBef>
                <a:spcPts val="1000"/>
              </a:spcBef>
              <a:buFont typeface="Arial,Sans-Serif"/>
              <a:buChar char="•"/>
            </a:pPr>
            <a:r>
              <a:rPr lang="en-US" dirty="0"/>
              <a:t>There is always a quest to try and explain more variance by improving the precision of predictors.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285750" indent="-285750">
              <a:lnSpc>
                <a:spcPct val="110000"/>
              </a:lnSpc>
              <a:spcBef>
                <a:spcPts val="1000"/>
              </a:spcBef>
              <a:buFont typeface="Arial,Sans-Serif"/>
              <a:buChar char="•"/>
            </a:pPr>
            <a:r>
              <a:rPr lang="en-US" dirty="0">
                <a:ea typeface="Calibri" panose="020F0502020204030204"/>
                <a:cs typeface="Calibri" panose="020F0502020204030204"/>
              </a:rPr>
              <a:t>Despite the difficulties this is necessary to better understand population dynamics</a:t>
            </a:r>
          </a:p>
          <a:p>
            <a:pPr marL="285750" indent="-285750">
              <a:lnSpc>
                <a:spcPct val="110000"/>
              </a:lnSpc>
              <a:spcBef>
                <a:spcPts val="1000"/>
              </a:spcBef>
              <a:buFont typeface="Arial"/>
              <a:buChar char="•"/>
            </a:pPr>
            <a:endParaRPr lang="en-US" dirty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E814FB-4484-4CC2-BE8B-BB383360BDDF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9670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lnSpc>
                <a:spcPct val="110000"/>
              </a:lnSpc>
              <a:spcBef>
                <a:spcPts val="1000"/>
              </a:spcBef>
              <a:buFont typeface="Arial"/>
              <a:buChar char="•"/>
            </a:pPr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E814FB-4484-4CC2-BE8B-BB383360BDDF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7477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/>
              <a:buChar char="•"/>
            </a:pPr>
            <a:r>
              <a:rPr lang="en-US" dirty="0"/>
              <a:t>In Scotland, the overpopulation of red deer presents a significant ecological challenge. </a:t>
            </a:r>
          </a:p>
          <a:p>
            <a:pPr>
              <a:buFont typeface="Arial"/>
              <a:buChar char="•"/>
            </a:pPr>
            <a:r>
              <a:rPr lang="en-US" dirty="0"/>
              <a:t>The extinction of wolves in the UK has left red deer without natural predators, allowing their populations to grow substantially if not controlled. </a:t>
            </a:r>
          </a:p>
          <a:p>
            <a:pPr>
              <a:buFont typeface="Arial"/>
              <a:buChar char="•"/>
            </a:pPr>
            <a:r>
              <a:rPr lang="en-US" dirty="0"/>
              <a:t>This unchecked growth leads to extensive browsing on young trees, severely hampering forest regeneration. </a:t>
            </a:r>
          </a:p>
          <a:p>
            <a:pPr>
              <a:buFont typeface="Arial"/>
              <a:buChar char="•"/>
            </a:pPr>
            <a:r>
              <a:rPr lang="en-US" dirty="0"/>
              <a:t>The heavy grazing pressure exerted by red deer has damaged open hill plant communities, resulting in soil erosion and the loss of native vegetation. 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pPr>
              <a:buFont typeface="Arial"/>
              <a:buChar char="•"/>
            </a:pPr>
            <a:r>
              <a:rPr lang="en-US" dirty="0"/>
              <a:t>As a result, there is a widespread wish to reduce red deer numbers to restore ecological balance. </a:t>
            </a:r>
            <a:br>
              <a:rPr lang="en-US" dirty="0">
                <a:cs typeface="+mn-lt"/>
              </a:rPr>
            </a:br>
            <a:endParaRPr lang="en-US">
              <a:ea typeface="Calibri" panose="020F0502020204030204"/>
              <a:cs typeface="Calibri" panose="020F0502020204030204"/>
            </a:endParaRPr>
          </a:p>
          <a:p>
            <a:endParaRPr lang="en-US" dirty="0">
              <a:cs typeface="Calibri" panose="020F0502020204030204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E814FB-4484-4CC2-BE8B-BB383360BDDF}" type="slidenum"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3734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can be confounded by various factors things that are not independent to density such as differences in habitat quality, climate, food availability, and human disturbance </a:t>
            </a:r>
          </a:p>
          <a:p>
            <a:endParaRPr lang="en-US">
              <a:cs typeface="Calibri"/>
            </a:endParaRPr>
          </a:p>
          <a:p>
            <a:r>
              <a:rPr lang="en-US" dirty="0"/>
              <a:t>lack precision due to the reliance on indirect measures, assumptions, and limited sampling.</a:t>
            </a:r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E814FB-4484-4CC2-BE8B-BB383360BDDF}" type="slidenum"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9474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of the longest running studies of a large herbivore population</a:t>
            </a:r>
          </a:p>
          <a:p>
            <a:endParaRPr lang="en-US" dirty="0"/>
          </a:p>
          <a:p>
            <a:r>
              <a:rPr lang="en-US" dirty="0"/>
              <a:t>monitor the </a:t>
            </a:r>
            <a:r>
              <a:rPr lang="en-US" dirty="0" err="1"/>
              <a:t>behaviour</a:t>
            </a:r>
            <a:r>
              <a:rPr lang="en-US" dirty="0"/>
              <a:t>, movement, and reproduction of individual deer from birth to death</a:t>
            </a:r>
            <a:endParaRPr lang="en-US" dirty="0">
              <a:cs typeface="Calibri" panose="020F0502020204030204"/>
            </a:endParaRPr>
          </a:p>
          <a:p>
            <a:endParaRPr lang="en-US" dirty="0"/>
          </a:p>
          <a:p>
            <a:r>
              <a:rPr lang="en-US" dirty="0"/>
              <a:t>The geographical isolation of Rum and the cessation of culling since 1973 create a closed system, ideal for studying population dynamics without external influences. </a:t>
            </a:r>
            <a:endParaRPr lang="en-US" dirty="0">
              <a:cs typeface="Calibri" panose="020F0502020204030204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E814FB-4484-4CC2-BE8B-BB383360BDDF}" type="slidenum"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9101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>
              <a:lnSpc>
                <a:spcPct val="110000"/>
              </a:lnSpc>
              <a:spcBef>
                <a:spcPts val="500"/>
              </a:spcBef>
              <a:buFont typeface="Courier New,monospace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E814FB-4484-4CC2-BE8B-BB383360BDDF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9447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In reality, stags and hinds both use all parts of the study area to varying extents, and both sexes can influence each other's access to resources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endParaRPr lang="en-US" dirty="0"/>
          </a:p>
          <a:p>
            <a:r>
              <a:rPr lang="en-US" dirty="0"/>
              <a:t>struggle to capture the full spectrum of ecological impacts, such as total resource competition</a:t>
            </a:r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E814FB-4484-4CC2-BE8B-BB383360BDDF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3274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Number of hinds is not strongly correlated with the rest of the population</a:t>
            </a:r>
          </a:p>
          <a:p>
            <a:r>
              <a:rPr lang="en-US" dirty="0">
                <a:ea typeface="Calibri"/>
                <a:cs typeface="Calibri"/>
              </a:rPr>
              <a:t>In fact their trajectory are quite different over the years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E814FB-4484-4CC2-BE8B-BB383360BDDF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9105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/>
              <a:buChar char="•"/>
            </a:pPr>
            <a:r>
              <a:rPr lang="en-US" dirty="0"/>
              <a:t>Although Previous studies that started in the early 1970s had provided valuable insights on density dependence effects</a:t>
            </a:r>
            <a:endParaRPr lang="en-US" dirty="0">
              <a:cs typeface="Calibri"/>
            </a:endParaRPr>
          </a:p>
          <a:p>
            <a:pPr>
              <a:buFont typeface="Arial"/>
              <a:buChar char="•"/>
            </a:pPr>
            <a:endParaRPr lang="en-US" dirty="0">
              <a:cs typeface="Calibri"/>
            </a:endParaRPr>
          </a:p>
          <a:p>
            <a:pPr>
              <a:buFont typeface="Arial"/>
              <a:buChar char="•"/>
            </a:pPr>
            <a:r>
              <a:rPr lang="en-US" dirty="0"/>
              <a:t>Based on a relatively short time frame of 13 to 16 years </a:t>
            </a:r>
            <a:endParaRPr lang="en-US" dirty="0">
              <a:cs typeface="Calibri"/>
            </a:endParaRPr>
          </a:p>
          <a:p>
            <a:pPr>
              <a:buFont typeface="Arial"/>
              <a:buChar char="•"/>
            </a:pPr>
            <a:r>
              <a:rPr lang="en-US" dirty="0" err="1"/>
              <a:t>Characterised</a:t>
            </a:r>
            <a:r>
              <a:rPr lang="en-US" dirty="0"/>
              <a:t> by a pronounced surge in hind population size in first decade</a:t>
            </a:r>
            <a:endParaRPr lang="en-US" dirty="0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endParaRPr lang="en-US" dirty="0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endParaRPr lang="en-US" dirty="0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E814FB-4484-4CC2-BE8B-BB383360BDDF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1078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earlier work on rum must be </a:t>
            </a:r>
            <a:r>
              <a:rPr lang="en-US" dirty="0" err="1"/>
              <a:t>contextualised</a:t>
            </a:r>
            <a:r>
              <a:rPr lang="en-US" dirty="0"/>
              <a:t> within the broader framework of ecological change and management history. </a:t>
            </a:r>
          </a:p>
          <a:p>
            <a:endParaRPr lang="en-US" dirty="0">
              <a:cs typeface="Calibri" panose="020F0502020204030204"/>
            </a:endParaRPr>
          </a:p>
          <a:p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E814FB-4484-4CC2-BE8B-BB383360BDDF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82433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Studies on aphids and moths both detected less density dependence when they account for trends.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E814FB-4484-4CC2-BE8B-BB383360BDDF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8131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 now a total of 50 years of data, revisiting and reassessing the density-dependent effects on the red deer population on Rum is essential. </a:t>
            </a:r>
          </a:p>
          <a:p>
            <a:endParaRPr lang="en-US" dirty="0"/>
          </a:p>
          <a:p>
            <a:r>
              <a:rPr lang="en-US" dirty="0"/>
              <a:t>The extended dataset provides a more comprehensive understanding of long-term population dynamics, and a chance to enhance predictability of existing models.</a:t>
            </a:r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  <a:p>
            <a:r>
              <a:rPr lang="en-US" dirty="0"/>
              <a:t>in an environment free from the immediate effects of past interventions. I will be using data after 1973 to 2022, so 50 years of data after all management ceased.</a:t>
            </a:r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E814FB-4484-4CC2-BE8B-BB383360BDDF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296336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/>
              <a:buChar char="•"/>
            </a:pPr>
            <a:r>
              <a:rPr lang="en-US" dirty="0"/>
              <a:t>The overarching aim of this study is to enhance predictors for deer life-history traits. </a:t>
            </a:r>
            <a:endParaRPr lang="en-US"/>
          </a:p>
          <a:p>
            <a:pPr marL="171450" indent="-171450">
              <a:buFont typeface="Arial"/>
              <a:buChar char="•"/>
            </a:pPr>
            <a:r>
              <a:rPr lang="en-US"/>
              <a:t>Therefore, the goal is solely to detrend any potential temporal changes, 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171450" indent="-171450">
              <a:buFont typeface="Arial"/>
              <a:buChar char="•"/>
            </a:pPr>
            <a:r>
              <a:rPr lang="en-US"/>
              <a:t>not to investigate the underlying causes of these trends, whether they be climate-related or other causes. 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171450" indent="-171450">
              <a:buFont typeface="Arial"/>
              <a:buChar char="•"/>
            </a:pPr>
            <a:r>
              <a:rPr lang="en-US"/>
              <a:t>Determining the causes of temporal trends requires further studies and additional time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171450" indent="-171450">
              <a:buFont typeface="Arial"/>
              <a:buChar char="•"/>
            </a:pPr>
            <a:r>
              <a:rPr lang="en-US"/>
              <a:t>which is beyond the scope of this project.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171450" indent="-171450">
              <a:buFont typeface="Arial"/>
              <a:buChar char="•"/>
            </a:pPr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E814FB-4484-4CC2-BE8B-BB383360BDDF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27271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Livestock units is </a:t>
            </a:r>
            <a:r>
              <a:rPr lang="en-US"/>
              <a:t>the proportional food consumption of all residents</a:t>
            </a:r>
            <a:endParaRPr lang="en-US" dirty="0"/>
          </a:p>
          <a:p>
            <a:endParaRPr lang="en-US" dirty="0"/>
          </a:p>
          <a:p>
            <a:r>
              <a:rPr lang="en-US" dirty="0" err="1"/>
              <a:t>standardised</a:t>
            </a:r>
            <a:r>
              <a:rPr lang="en-US" dirty="0"/>
              <a:t> to 1 unit equaling the food intake of one cattle</a:t>
            </a:r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E814FB-4484-4CC2-BE8B-BB383360BDDF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06900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The traits I used follow the life-history of a deer</a:t>
            </a:r>
          </a:p>
          <a:p>
            <a:endParaRPr lang="en-US" dirty="0">
              <a:ea typeface="Calibri"/>
              <a:cs typeface="Calibri"/>
            </a:endParaRPr>
          </a:p>
          <a:p>
            <a:pPr marL="171450" indent="-171450">
              <a:buFont typeface="Arial"/>
              <a:buChar char="•"/>
            </a:pPr>
            <a:r>
              <a:rPr lang="en-US" dirty="0">
                <a:ea typeface="Calibri"/>
                <a:cs typeface="Calibri"/>
              </a:rPr>
              <a:t>Going from </a:t>
            </a:r>
            <a:r>
              <a:rPr lang="en-US" dirty="0"/>
              <a:t>birth weight, a trait that never found related to density </a:t>
            </a:r>
            <a:endParaRPr lang="en-US" dirty="0">
              <a:ea typeface="Calibri"/>
              <a:cs typeface="Calibri"/>
            </a:endParaRPr>
          </a:p>
          <a:p>
            <a:pPr marL="171450" indent="-171450">
              <a:buFont typeface="Arial"/>
              <a:buChar char="•"/>
            </a:pPr>
            <a:r>
              <a:rPr lang="en-US" dirty="0"/>
              <a:t>To traits that people had found density effect</a:t>
            </a:r>
            <a:endParaRPr lang="en-US" dirty="0">
              <a:ea typeface="Calibri"/>
              <a:cs typeface="Calibri"/>
            </a:endParaRPr>
          </a:p>
          <a:p>
            <a:pPr marL="171450" indent="-171450">
              <a:buFont typeface="Arial"/>
              <a:buChar char="•"/>
            </a:pPr>
            <a:endParaRPr lang="en-US" dirty="0">
              <a:ea typeface="Calibri"/>
              <a:cs typeface="Calibri"/>
            </a:endParaRPr>
          </a:p>
          <a:p>
            <a:pPr marL="171450" indent="-171450">
              <a:buFont typeface="Arial"/>
              <a:buChar char="•"/>
            </a:pPr>
            <a:r>
              <a:rPr lang="en-US" dirty="0">
                <a:ea typeface="Calibri"/>
                <a:cs typeface="Calibri"/>
              </a:rPr>
              <a:t>Covering both male and female, juveniles and adults</a:t>
            </a:r>
          </a:p>
          <a:p>
            <a:pPr marL="171450" indent="-171450">
              <a:buFont typeface="Arial"/>
              <a:buChar char="•"/>
            </a:pPr>
            <a:endParaRPr lang="en-US" dirty="0">
              <a:ea typeface="Calibri"/>
              <a:cs typeface="Calibri"/>
            </a:endParaRPr>
          </a:p>
          <a:p>
            <a:pPr marL="171450" indent="-171450">
              <a:buFont typeface="Arial"/>
              <a:buChar char="•"/>
            </a:pPr>
            <a:r>
              <a:rPr lang="en-US" dirty="0">
                <a:ea typeface="Calibri"/>
                <a:cs typeface="Calibri"/>
              </a:rPr>
              <a:t>Moreover, they're on animals that almost never leave the study area</a:t>
            </a:r>
          </a:p>
          <a:p>
            <a:pPr marL="171450" indent="-171450">
              <a:buFont typeface="Arial"/>
              <a:buChar char="•"/>
            </a:pPr>
            <a:r>
              <a:rPr lang="en-US" dirty="0">
                <a:ea typeface="Calibri"/>
                <a:cs typeface="Calibri"/>
              </a:rPr>
              <a:t>So we can be sure they're affected only by resource competition within the study area</a:t>
            </a:r>
          </a:p>
          <a:p>
            <a:br>
              <a:rPr lang="en-US" dirty="0"/>
            </a:br>
            <a:endParaRPr lang="en-US" dirty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E814FB-4484-4CC2-BE8B-BB383360BDDF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01037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Year as a fixed effect captures systematic trends over time, </a:t>
            </a:r>
            <a:endParaRPr lang="en-US"/>
          </a:p>
          <a:p>
            <a:r>
              <a:rPr lang="en-US" dirty="0"/>
              <a:t>such as gradual environmental changes or long-term shifts in population dynamics. 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/>
              <a:t> 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/>
              <a:t>Year as a random effect captures random variability around these fixed trends, 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/>
              <a:t>acknowledging unique yearly factors like specific management interventions, or impacts of climate change. </a:t>
            </a:r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E814FB-4484-4CC2-BE8B-BB383360BDDF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24088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These are the terms I have used for each of the traits</a:t>
            </a:r>
          </a:p>
          <a:p>
            <a:r>
              <a:rPr lang="en-US" dirty="0">
                <a:ea typeface="Calibri"/>
                <a:cs typeface="Calibri"/>
              </a:rPr>
              <a:t>They were previously found significant to the particular trait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E814FB-4484-4CC2-BE8B-BB383360BDDF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618313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FWS with year as fixed effect failed to converge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E814FB-4484-4CC2-BE8B-BB383360BDDF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46521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Different reproductive status have varying effects and when plot as an interaction provided even lower AIC </a:t>
            </a:r>
            <a:r>
              <a:rPr lang="en-US" dirty="0" err="1">
                <a:ea typeface="Calibri"/>
                <a:cs typeface="Calibri"/>
              </a:rPr>
              <a:t>vaues</a:t>
            </a:r>
            <a:r>
              <a:rPr lang="en-US" dirty="0">
                <a:ea typeface="Calibri"/>
                <a:cs typeface="Calibri"/>
              </a:rPr>
              <a:t>. </a:t>
            </a:r>
          </a:p>
          <a:p>
            <a:r>
              <a:rPr lang="en-US" dirty="0">
                <a:ea typeface="Calibri"/>
                <a:cs typeface="Calibri"/>
              </a:rPr>
              <a:t>Work is still on going but it will be in my thesis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E814FB-4484-4CC2-BE8B-BB383360BDDF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32942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cs typeface="Calibri"/>
              </a:rPr>
              <a:t>Hind density was the best predictor when density dependence are observed</a:t>
            </a:r>
          </a:p>
          <a:p>
            <a:endParaRPr lang="en-US" dirty="0">
              <a:cs typeface="Calibri"/>
            </a:endParaRPr>
          </a:p>
          <a:p>
            <a:r>
              <a:rPr lang="en-US" dirty="0">
                <a:ea typeface="Calibri"/>
                <a:cs typeface="Calibri"/>
              </a:rPr>
              <a:t>These are traits on Hinds and Calves though,</a:t>
            </a:r>
          </a:p>
          <a:p>
            <a:endParaRPr lang="en-US" dirty="0">
              <a:cs typeface="Calibri"/>
            </a:endParaRPr>
          </a:p>
          <a:p>
            <a:r>
              <a:rPr lang="en-US" dirty="0">
                <a:cs typeface="Calibri"/>
              </a:rPr>
              <a:t>Clutton-Brock is right when he said females and juveniles </a:t>
            </a:r>
            <a:r>
              <a:rPr lang="en-US" dirty="0"/>
              <a:t>are more likely to be affected by competition with other hinds and juveniles</a:t>
            </a:r>
            <a:endParaRPr lang="en-US" dirty="0">
              <a:cs typeface="Calibri"/>
            </a:endParaRPr>
          </a:p>
          <a:p>
            <a:endParaRPr lang="en-US" dirty="0">
              <a:cs typeface="Calibri"/>
            </a:endParaRPr>
          </a:p>
          <a:p>
            <a:r>
              <a:rPr lang="en-US" dirty="0">
                <a:cs typeface="Calibri"/>
              </a:rPr>
              <a:t>But Hind density is not a great predictor for spike length which is a male trait.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>
                <a:cs typeface="Calibri"/>
              </a:rPr>
              <a:t>In fact spike is not density dependent</a:t>
            </a:r>
            <a:endParaRPr lang="en-US" dirty="0">
              <a:ea typeface="Calibri" panose="020F0502020204030204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E814FB-4484-4CC2-BE8B-BB383360BDDF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28455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, and the original models with year as a random effect were sufficient for capturing the relevant variations</a:t>
            </a:r>
            <a:endParaRPr lang="en-US"/>
          </a:p>
          <a:p>
            <a:endParaRPr lang="en-US" dirty="0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E814FB-4484-4CC2-BE8B-BB383360BDDF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29045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Over-culling can be just as detrimental as under-culling, leading to ecological imbalances and unintended consequences for other species and the habitat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E814FB-4484-4CC2-BE8B-BB383360BDDF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72821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Just remember If you are also struggling to finish your thesis, at least you are not a red deer calf facing its first winter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E814FB-4484-4CC2-BE8B-BB383360BDDF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4449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F9204-3F29-4C3A-BA41-3063400202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3393CD-7262-4AC7-80E6-52FE6F3F39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0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D430AE-0210-4E82-AD7B-41B112DE7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fld id="{11A6662E-FAF4-44BC-88B5-85A7CBFB6D30}" type="datetime1">
              <a:rPr lang="en-US" smtClean="0"/>
              <a:pPr/>
              <a:t>8/1/2024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221974-7DEC-459D-9642-CB5B59C82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endParaRPr lang="en-US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731837-C94E-4B5B-BCF0-110C69EDB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936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CC1FC-ADE8-488C-A1DA-2FD569FD4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694" y="365760"/>
            <a:ext cx="10895106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F02842-38C3-46D6-8527-0F6FE623C5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864CF5-F681-40C2-88CC-E02206C9C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8/1/2024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C04753-4FE4-4A6F-99BB-CFFC92E0C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A569D1-DB13-4BD9-8BA9-0DEAD98F8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7162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20B05-7BF6-4073-9106-FA19E9727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8EE8D7-6B58-4A3F-9DD5-E563D5192A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02990E-9F0A-446A-B5B8-459CA8D98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17D9E-721A-44BB-8863-9873FE64DA75}" type="datetime1">
              <a:rPr lang="en-US" smtClean="0"/>
              <a:t>8/1/2024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E68EAA-4377-45FF-9D7C-9E77BC9F2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07FA71-74C3-44B8-A0AC-E18A1E76B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4057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71F12-2D88-4F76-AF46-BD5156C12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694" y="365760"/>
            <a:ext cx="10895106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E1AA46-E3EB-4704-B019-F90F1E6177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8695" y="1825625"/>
            <a:ext cx="5561106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17480F-A530-4D05-9A22-E573FB4BA6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825625"/>
            <a:ext cx="5561105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B56FDA-C47A-4F4A-A364-BA60A25AB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8/1/2024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6D8DD-6D84-44D4-8A1B-57615B3ED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C8FE31-B577-4017-8AFE-A8BA09596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7996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C28C9-B8CC-413F-9FFA-626680E4A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694" y="365125"/>
            <a:ext cx="11274612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53FE72-9D42-45F5-A37F-B12130388A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5256" y="1752600"/>
            <a:ext cx="5532319" cy="823912"/>
          </a:xfrm>
        </p:spPr>
        <p:txBody>
          <a:bodyPr anchor="b"/>
          <a:lstStyle>
            <a:lvl1pPr marL="0" indent="0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E3A31D-9B5F-4DE3-B18D-F7F77782EB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5256" y="2666999"/>
            <a:ext cx="5532319" cy="35226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BE1D2D-822C-466C-A7B9-1A2D97366A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752600"/>
            <a:ext cx="5561106" cy="823912"/>
          </a:xfrm>
        </p:spPr>
        <p:txBody>
          <a:bodyPr anchor="b"/>
          <a:lstStyle>
            <a:lvl1pPr marL="0" indent="0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F13B2C-44CA-49C4-BC84-02AF1638F3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66999"/>
            <a:ext cx="5561106" cy="35226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93CB55-E9C1-4CE6-9B61-81B71475B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8/1/2024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F22318-747B-4EC9-862C-D9FD488CC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FBDDDF-16BD-438D-937D-0E3E30E74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8160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92D5F-0BD4-4517-9233-E08AF405B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694" y="365760"/>
            <a:ext cx="11274612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3523B8-51E3-48B8-BFD8-CE95061980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8693" y="6416675"/>
            <a:ext cx="2921715" cy="365125"/>
          </a:xfrm>
        </p:spPr>
        <p:txBody>
          <a:bodyPr/>
          <a:lstStyle/>
          <a:p>
            <a:fld id="{3AB41CFF-90C9-47B3-9DA1-F2BF8D839F7E}" type="datetime1">
              <a:rPr lang="en-US" smtClean="0"/>
              <a:t>8/1/2024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739B90-5D50-4424-B51D-53C391621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6F9286-3A00-4D3C-A3F0-50AC9045C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2358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933BE2-665A-42DA-A3B7-835F81A3F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8/1/2024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4DBCBD-AD42-432D-ABA9-20D616AF3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140251-3596-4673-B24B-59A6F9ED8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8821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A81A1-6D8E-4DD6-8E49-DABDE6D10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93F18F-F78D-4A31-A6BC-6552105BCF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82C2F4-BDF4-4A4F-AA3D-52692932C2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13850F-5C87-4F08-9658-EAF049B60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8/1/2024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0BCE9A-A746-4439-B5D3-966FBC8E5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1D3B51-AA2E-4AA1-8062-A0D476D80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8947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02CF7-F453-4B3E-9510-D74797987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E2A1B9-8A2A-4B49-8B79-76D3EEB36B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9FEA03-0EC4-4085-AE63-4AA492D61A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05AD5B-0DEA-4C6F-94D2-FAA99F2E5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8/1/2024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DC6744-7CBA-4A1D-8F87-10699F981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AD9048-35FF-4BE9-8157-BE4BAA1C7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7549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ABDD2-E186-4F25-8FDE-D1E875E9C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18CC5B-A7E0-48B1-8329-6533AC76E7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905B1B-77FE-4BFC-BF87-87DA989F0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8/1/2024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8531E-1B90-4631-BD37-4BB1DBFAB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8A55E8-88DC-4280-8E04-FF50FF8ED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8443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960633D-90E4-4F5A-9EBF-DDEC2B0B47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DD3065-FA3D-42C8-BFDA-967C87F4F2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DC126F-38E2-4425-861F-98ED43228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8/1/2024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9645D8-F22A-4354-A8B3-96E8A2D23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9E2295-A616-4D57-8800-7B7E213A8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4871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BABF38A-8A0D-492E-BD20-6CF4D46B5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4"/>
          </a:xfrm>
          <a:prstGeom prst="rect">
            <a:avLst/>
          </a:prstGeom>
          <a:solidFill>
            <a:schemeClr val="bg2">
              <a:lumMod val="9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984D45-0ED3-4D03-8E44-5E355C913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694" y="425450"/>
            <a:ext cx="1127461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687D6E-D1E9-489C-9AA9-3575C39BAA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8694" y="1949450"/>
            <a:ext cx="11274612" cy="41957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364E9C-08EE-4B1B-B3FC-D6D997F4EA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8694" y="64166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fld id="{57E0CF6C-748E-4B7A-BC8B-3011EF78ED13}" type="datetime1">
              <a:rPr lang="en-US" smtClean="0"/>
              <a:pPr/>
              <a:t>8/1/2024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B0A1F1-38FE-4C27-81E6-A43A54793F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1667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endParaRPr lang="en-US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26B39A-FFD8-42EF-ADC7-7DB3B302F8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90106" y="64166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4" name="Picture 13" descr="A picture containing sitting&#10;&#10;Description automatically generated">
            <a:extLst>
              <a:ext uri="{FF2B5EF4-FFF2-40B4-BE49-F238E27FC236}">
                <a16:creationId xmlns:a16="http://schemas.microsoft.com/office/drawing/2014/main" id="{BC526B7A-4801-4FD1-95C8-03AF22629E87}"/>
              </a:ext>
            </a:extLst>
          </p:cNvPr>
          <p:cNvPicPr>
            <a:picLocks noChangeAspect="1"/>
          </p:cNvPicPr>
          <p:nvPr/>
        </p:nvPicPr>
        <p:blipFill>
          <a:blip r:embed="rId13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400" y="0"/>
            <a:ext cx="3654612" cy="4575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270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698" r:id="rId8"/>
    <p:sldLayoutId id="2147483699" r:id="rId9"/>
    <p:sldLayoutId id="2147483700" r:id="rId10"/>
    <p:sldLayoutId id="2147483708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accent1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1.xml"/><Relationship Id="rId3" Type="http://schemas.openxmlformats.org/officeDocument/2006/relationships/image" Target="../media/image6.png"/><Relationship Id="rId7" Type="http://schemas.openxmlformats.org/officeDocument/2006/relationships/diagramLayout" Target="../diagrams/layout1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diagramData" Target="../diagrams/data1.xml"/><Relationship Id="rId5" Type="http://schemas.openxmlformats.org/officeDocument/2006/relationships/image" Target="../media/image12.jpeg"/><Relationship Id="rId10" Type="http://schemas.microsoft.com/office/2007/relationships/diagramDrawing" Target="../diagrams/drawing1.xml"/><Relationship Id="rId4" Type="http://schemas.openxmlformats.org/officeDocument/2006/relationships/image" Target="../media/image7.png"/><Relationship Id="rId9" Type="http://schemas.openxmlformats.org/officeDocument/2006/relationships/diagramColors" Target="../diagrams/colors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jpeg"/><Relationship Id="rId4" Type="http://schemas.openxmlformats.org/officeDocument/2006/relationships/image" Target="../media/image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7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7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jpeg"/><Relationship Id="rId4" Type="http://schemas.openxmlformats.org/officeDocument/2006/relationships/image" Target="../media/image7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37FDDF72-DE39-4F99-A3C1-DD9D7815D7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E4ECE80-3AD1-450C-B62A-98788F1939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4" name="Picture 3" descr="A deer standing in a grassy field&#10;&#10;Description automatically generated">
            <a:extLst>
              <a:ext uri="{FF2B5EF4-FFF2-40B4-BE49-F238E27FC236}">
                <a16:creationId xmlns:a16="http://schemas.microsoft.com/office/drawing/2014/main" id="{D04A79BF-61B6-CDA5-256B-211E9EDE2D1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r="-1" b="24995"/>
          <a:stretch/>
        </p:blipFill>
        <p:spPr>
          <a:xfrm>
            <a:off x="3048" y="10"/>
            <a:ext cx="12188952" cy="6856614"/>
          </a:xfrm>
          <a:prstGeom prst="rect">
            <a:avLst/>
          </a:pr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B9632603-447F-4389-863D-9820DB9915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V="1">
            <a:off x="6951981" y="0"/>
            <a:ext cx="5236971" cy="6858001"/>
            <a:chOff x="6951981" y="0"/>
            <a:chExt cx="5236971" cy="6858001"/>
          </a:xfrm>
        </p:grpSpPr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354F4BB5-9639-4525-A748-2B2D8FDB10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6951981" y="692703"/>
              <a:ext cx="5236971" cy="6165298"/>
            </a:xfrm>
            <a:prstGeom prst="rect">
              <a:avLst/>
            </a:prstGeom>
          </p:spPr>
        </p:pic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4D9AF55E-83EF-4A42-A236-590299A7B9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3"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154" b="19117"/>
            <a:stretch/>
          </p:blipFill>
          <p:spPr>
            <a:xfrm rot="16200000" flipH="1">
              <a:off x="7618603" y="-373126"/>
              <a:ext cx="4197223" cy="4943475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96275" y="744909"/>
            <a:ext cx="10190071" cy="3145855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5200" dirty="0">
                <a:solidFill>
                  <a:srgbClr val="FFFFFF"/>
                </a:solidFill>
                <a:ea typeface="+mj-lt"/>
                <a:cs typeface="+mj-lt"/>
              </a:rPr>
              <a:t>Revisiting Density-Dependent Traits in Red Deer on the Isle of Rum with Extended Data and Enhanced Models </a:t>
            </a:r>
            <a:endParaRPr lang="en-US" dirty="0">
              <a:ea typeface="+mj-lt"/>
              <a:cs typeface="+mj-l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8708" y="4069780"/>
            <a:ext cx="9781327" cy="205661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200" dirty="0">
                <a:solidFill>
                  <a:srgbClr val="FFFFFF"/>
                </a:solidFill>
              </a:rPr>
              <a:t>Hayward Wong B141395</a:t>
            </a:r>
          </a:p>
          <a:p>
            <a:r>
              <a:rPr lang="en-US" sz="2200" dirty="0">
                <a:solidFill>
                  <a:srgbClr val="FFFFFF"/>
                </a:solidFill>
              </a:rPr>
              <a:t>Supervised by: </a:t>
            </a:r>
            <a:r>
              <a:rPr lang="en-US" sz="2200" dirty="0">
                <a:solidFill>
                  <a:srgbClr val="FFFFFF"/>
                </a:solidFill>
                <a:ea typeface="+mn-lt"/>
                <a:cs typeface="+mn-lt"/>
              </a:rPr>
              <a:t>Josephine Pemberton, Craig Walling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DE61FBD7-E37C-4B38-BE44-A6D4978D7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23772C2-0911-45A0-B7B6-D811380C75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53A6A32E-D196-4536-A9E8-56D5BB884F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657587" y="5080"/>
            <a:ext cx="4531366" cy="6014720"/>
            <a:chOff x="7657587" y="5080"/>
            <a:chExt cx="4531366" cy="6014720"/>
          </a:xfrm>
        </p:grpSpPr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B88E3398-5BD2-49D6-A547-80FBD0FECC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3">
              <a:alphaModFix amt="1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818" b="17291"/>
            <a:stretch/>
          </p:blipFill>
          <p:spPr>
            <a:xfrm flipH="1" flipV="1">
              <a:off x="7657587" y="5080"/>
              <a:ext cx="4531366" cy="4864019"/>
            </a:xfrm>
            <a:prstGeom prst="rect">
              <a:avLst/>
            </a:prstGeom>
          </p:spPr>
        </p:pic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80E4B511-9D99-4EAC-908E-9B474A5233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3">
              <a:alphaModFix amt="16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0690"/>
            <a:stretch/>
          </p:blipFill>
          <p:spPr>
            <a:xfrm flipV="1">
              <a:off x="8627628" y="5080"/>
              <a:ext cx="3561325" cy="6014720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4B90944-A684-2A2C-37F2-C3E4078617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8576" y="744909"/>
            <a:ext cx="10591800" cy="3155419"/>
          </a:xfrm>
        </p:spPr>
        <p:txBody>
          <a:bodyPr anchor="b">
            <a:normAutofit/>
          </a:bodyPr>
          <a:lstStyle/>
          <a:p>
            <a:r>
              <a:rPr lang="en-US" sz="5200">
                <a:solidFill>
                  <a:srgbClr val="FFFFFF"/>
                </a:solidFill>
                <a:cs typeface="Sabon Next LT"/>
              </a:rPr>
              <a:t>Background</a:t>
            </a:r>
            <a:endParaRPr lang="en-US" sz="520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84A448-F14B-7E30-1593-3C1A0C037E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8577" y="4074784"/>
            <a:ext cx="10591798" cy="2054306"/>
          </a:xfrm>
        </p:spPr>
        <p:txBody>
          <a:bodyPr anchor="t">
            <a:normAutofit/>
          </a:bodyPr>
          <a:lstStyle/>
          <a:p>
            <a:endParaRPr lang="en-US" sz="22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15358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AC4B8-119F-EBDD-932A-A1132E2753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Sabon Next LT"/>
              </a:rPr>
              <a:t>Density dependence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BBB792-3EEA-D3E7-3795-E74E0096E3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Important part of population dynamics</a:t>
            </a:r>
          </a:p>
          <a:p>
            <a:r>
              <a:rPr lang="en-US" dirty="0">
                <a:ea typeface="+mn-lt"/>
                <a:cs typeface="+mn-lt"/>
              </a:rPr>
              <a:t>Regulating population size and growth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Essential for population management 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Predict how populations will respond to changes in density</a:t>
            </a:r>
          </a:p>
          <a:p>
            <a:pPr marL="0" indent="0">
              <a:buNone/>
            </a:pPr>
            <a:endParaRPr lang="en-US" dirty="0"/>
          </a:p>
          <a:p>
            <a:endParaRPr lang="en-US"/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6665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43A9B7B3-F171-4C25-99FC-C54250F06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2D5C7C5-9C27-4A61-9F57-1857D45320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lumMod val="9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56932E6-5BA9-4C85-82EA-A307011BB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362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C219B5-F46D-5041-165F-92F592DC05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2" y="381000"/>
            <a:ext cx="10003218" cy="160012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  <a:cs typeface="Sabon Next LT"/>
              </a:rPr>
              <a:t>Red Deer in Scotland</a:t>
            </a:r>
            <a:endParaRPr lang="en-US">
              <a:solidFill>
                <a:srgbClr val="FFFFFF"/>
              </a:solidFill>
            </a:endParaRPr>
          </a:p>
        </p:txBody>
      </p:sp>
      <p:pic>
        <p:nvPicPr>
          <p:cNvPr id="48" name="Content Placeholder 47" descr="A tree and a plant&#10;&#10;Description automatically generated">
            <a:extLst>
              <a:ext uri="{FF2B5EF4-FFF2-40B4-BE49-F238E27FC236}">
                <a16:creationId xmlns:a16="http://schemas.microsoft.com/office/drawing/2014/main" id="{A068B1C5-3D5B-545A-03F6-22DC102CE1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05739" y="2515177"/>
            <a:ext cx="10980522" cy="4195763"/>
          </a:xfrm>
        </p:spPr>
      </p:pic>
    </p:spTree>
    <p:extLst>
      <p:ext uri="{BB962C8B-B14F-4D97-AF65-F5344CB8AC3E}">
        <p14:creationId xmlns:p14="http://schemas.microsoft.com/office/powerpoint/2010/main" val="7430293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EA12E-2CD2-0BCB-C1F3-3B5299D4D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Sabon Next LT"/>
              </a:rPr>
              <a:t>Density dependence in Red Deer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475D65-65C9-FAC0-A9EB-83CE77C0FE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Typically investigated by </a:t>
            </a:r>
            <a:r>
              <a:rPr lang="en-US" b="1" dirty="0">
                <a:ea typeface="+mn-lt"/>
                <a:cs typeface="+mn-lt"/>
              </a:rPr>
              <a:t>comparing areas of high and low density</a:t>
            </a:r>
            <a:r>
              <a:rPr lang="en-US" dirty="0">
                <a:ea typeface="+mn-lt"/>
                <a:cs typeface="+mn-lt"/>
              </a:rPr>
              <a:t> (Rodriguez-Hidalgo et al. 2010) </a:t>
            </a:r>
          </a:p>
          <a:p>
            <a:pPr marL="0" indent="0">
              <a:buNone/>
            </a:pPr>
            <a:endParaRPr lang="en-US"/>
          </a:p>
          <a:p>
            <a:r>
              <a:rPr lang="en-US" dirty="0"/>
              <a:t>Or </a:t>
            </a:r>
            <a:r>
              <a:rPr lang="en-US" dirty="0">
                <a:ea typeface="+mn-lt"/>
                <a:cs typeface="+mn-lt"/>
              </a:rPr>
              <a:t>using </a:t>
            </a:r>
            <a:r>
              <a:rPr lang="en-US" b="1" dirty="0">
                <a:ea typeface="+mn-lt"/>
                <a:cs typeface="+mn-lt"/>
              </a:rPr>
              <a:t>estimated density data</a:t>
            </a:r>
            <a:r>
              <a:rPr lang="en-US" dirty="0">
                <a:ea typeface="+mn-lt"/>
                <a:cs typeface="+mn-lt"/>
              </a:rPr>
              <a:t> (</a:t>
            </a:r>
            <a:r>
              <a:rPr lang="en-US" dirty="0" err="1">
                <a:ea typeface="+mn-lt"/>
                <a:cs typeface="+mn-lt"/>
              </a:rPr>
              <a:t>Flajšman</a:t>
            </a:r>
            <a:r>
              <a:rPr lang="en-US" dirty="0">
                <a:ea typeface="+mn-lt"/>
                <a:cs typeface="+mn-lt"/>
              </a:rPr>
              <a:t> et al. 2018)</a:t>
            </a:r>
          </a:p>
          <a:p>
            <a:endParaRPr lang="en-US"/>
          </a:p>
          <a:p>
            <a:r>
              <a:rPr lang="en-US" dirty="0">
                <a:ea typeface="+mn-lt"/>
                <a:cs typeface="+mn-lt"/>
              </a:rPr>
              <a:t>Important to investigate density dependence using populations with </a:t>
            </a:r>
            <a:r>
              <a:rPr lang="en-US" b="1" dirty="0">
                <a:ea typeface="+mn-lt"/>
                <a:cs typeface="+mn-lt"/>
              </a:rPr>
              <a:t>high-quality data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1185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B308828-4749-4D6D-9CEA-433D2BD27E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0" y="0"/>
            <a:ext cx="7724071" cy="6858000"/>
            <a:chOff x="4464881" y="0"/>
            <a:chExt cx="7724071" cy="6858000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FA43358F-8AF6-45AF-B1D4-3EA84DDE72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1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3255" y="0"/>
              <a:ext cx="5115697" cy="685800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33B887FE-73E4-4849-9FF5-BEBA04068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4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7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5412135" y="-947254"/>
              <a:ext cx="5562598" cy="7457106"/>
            </a:xfrm>
            <a:prstGeom prst="rect">
              <a:avLst/>
            </a:prstGeom>
            <a:effectLst>
              <a:softEdge rad="0"/>
            </a:effectLst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4C415E6-D8B2-B6D3-B979-340C10F09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638" y="407610"/>
            <a:ext cx="5712372" cy="1997075"/>
          </a:xfrm>
        </p:spPr>
        <p:txBody>
          <a:bodyPr>
            <a:normAutofit/>
          </a:bodyPr>
          <a:lstStyle/>
          <a:p>
            <a:r>
              <a:rPr lang="en-US" sz="3600">
                <a:cs typeface="Sabon Next LT"/>
              </a:rPr>
              <a:t>Isle of Rum Red Deer Project</a:t>
            </a:r>
            <a:endParaRPr lang="en-US" sz="36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497186-847C-357F-AB49-3A3EBA7CA2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2638" y="2156039"/>
            <a:ext cx="4976648" cy="3405351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400" dirty="0"/>
              <a:t>Started in 1972 to present</a:t>
            </a:r>
          </a:p>
          <a:p>
            <a:r>
              <a:rPr lang="en-US" sz="2400" dirty="0"/>
              <a:t>In the North Block of Isle of Rum, Scotland</a:t>
            </a:r>
          </a:p>
          <a:p>
            <a:r>
              <a:rPr lang="en-US" sz="2400" dirty="0"/>
              <a:t>All deer identified by </a:t>
            </a:r>
            <a:r>
              <a:rPr lang="en-US" sz="2400" dirty="0">
                <a:ea typeface="+mn-lt"/>
                <a:cs typeface="+mn-lt"/>
              </a:rPr>
              <a:t>Natural markings and artificial tags (n=4300+)</a:t>
            </a:r>
            <a:endParaRPr lang="en-US" sz="2400" dirty="0"/>
          </a:p>
          <a:p>
            <a:r>
              <a:rPr lang="en-US" sz="2400" dirty="0">
                <a:ea typeface="+mn-lt"/>
                <a:cs typeface="+mn-lt"/>
              </a:rPr>
              <a:t>Condition , </a:t>
            </a:r>
            <a:r>
              <a:rPr lang="en-US" sz="2400" dirty="0" err="1">
                <a:ea typeface="+mn-lt"/>
                <a:cs typeface="+mn-lt"/>
              </a:rPr>
              <a:t>behaviour</a:t>
            </a:r>
            <a:r>
              <a:rPr lang="en-US" sz="2400" dirty="0">
                <a:ea typeface="+mn-lt"/>
                <a:cs typeface="+mn-lt"/>
              </a:rPr>
              <a:t>,  reproduction etc. monitored</a:t>
            </a:r>
          </a:p>
          <a:p>
            <a:endParaRPr lang="en-US" sz="2000" dirty="0">
              <a:ea typeface="+mn-lt"/>
              <a:cs typeface="+mn-lt"/>
            </a:endParaRPr>
          </a:p>
        </p:txBody>
      </p:sp>
      <p:pic>
        <p:nvPicPr>
          <p:cNvPr id="4" name="Picture 3" descr="A map of a large island&#10;&#10;Description automatically generated">
            <a:extLst>
              <a:ext uri="{FF2B5EF4-FFF2-40B4-BE49-F238E27FC236}">
                <a16:creationId xmlns:a16="http://schemas.microsoft.com/office/drawing/2014/main" id="{4438F57E-F298-0639-7F6D-C4D795C73A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9786" y="257198"/>
            <a:ext cx="6415754" cy="6331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796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CBF9D-CBDE-3FD0-3019-DA167F41D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920" y="92590"/>
            <a:ext cx="10895106" cy="1325563"/>
          </a:xfrm>
        </p:spPr>
        <p:txBody>
          <a:bodyPr/>
          <a:lstStyle/>
          <a:p>
            <a:r>
              <a:rPr lang="en-US">
                <a:cs typeface="Sabon Next LT"/>
              </a:rPr>
              <a:t>Density dependence on Rum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266777-13B0-6FA9-E54E-DD09997DD4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8693" y="1431866"/>
            <a:ext cx="11245858" cy="507278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Earlier work on Rum have documented:</a:t>
            </a:r>
          </a:p>
          <a:p>
            <a:r>
              <a:rPr lang="en-US" b="1" dirty="0">
                <a:ea typeface="+mn-lt"/>
                <a:cs typeface="+mn-lt"/>
              </a:rPr>
              <a:t>Decrease </a:t>
            </a:r>
            <a:r>
              <a:rPr lang="en-US" dirty="0">
                <a:ea typeface="+mn-lt"/>
                <a:cs typeface="+mn-lt"/>
              </a:rPr>
              <a:t>in many aspects of red deer life history </a:t>
            </a:r>
            <a:r>
              <a:rPr lang="en-US" b="1" dirty="0">
                <a:ea typeface="+mn-lt"/>
                <a:cs typeface="+mn-lt"/>
              </a:rPr>
              <a:t>as population density increases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Survival </a:t>
            </a:r>
            <a:r>
              <a:rPr lang="en-US" sz="2000" dirty="0">
                <a:ea typeface="+mn-lt"/>
                <a:cs typeface="+mn-lt"/>
              </a:rPr>
              <a:t>(Clutton-Brock et al. 1987; Coulson et al. 1997)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Reproduction</a:t>
            </a:r>
            <a:r>
              <a:rPr lang="en-US" sz="2000" dirty="0">
                <a:ea typeface="+mn-lt"/>
                <a:cs typeface="+mn-lt"/>
              </a:rPr>
              <a:t> (Albon et al. 1983; Coulson et al. 2000; McLoughlin et al. 2006)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Various growths </a:t>
            </a:r>
            <a:r>
              <a:rPr lang="en-US" sz="2000" dirty="0">
                <a:ea typeface="+mn-lt"/>
                <a:cs typeface="+mn-lt"/>
              </a:rPr>
              <a:t>(Clutton-Brock 1982; </a:t>
            </a:r>
            <a:r>
              <a:rPr lang="en-US" sz="2000" dirty="0" err="1">
                <a:ea typeface="+mn-lt"/>
                <a:cs typeface="+mn-lt"/>
              </a:rPr>
              <a:t>Schmidti</a:t>
            </a:r>
            <a:r>
              <a:rPr lang="en-US" sz="2000" dirty="0">
                <a:ea typeface="+mn-lt"/>
                <a:cs typeface="+mn-lt"/>
              </a:rPr>
              <a:t> 2001)</a:t>
            </a:r>
            <a:r>
              <a:rPr lang="en-US" dirty="0">
                <a:ea typeface="+mn-lt"/>
                <a:cs typeface="+mn-lt"/>
              </a:rPr>
              <a:t> 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en-US" dirty="0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Historically used</a:t>
            </a:r>
            <a:r>
              <a:rPr lang="en-US" b="1" dirty="0">
                <a:ea typeface="+mn-lt"/>
                <a:cs typeface="+mn-lt"/>
              </a:rPr>
              <a:t> the number of hinds for density 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Stems from early works by Tim Clutton-Brock 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Later studies seldom justify this selection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87271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6FB9C-C6DB-A65D-45B2-1308294C6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Sabon Next LT"/>
              </a:rPr>
              <a:t>Justification of using hind density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6089BC-BDBC-A4C7-99FB-6BB0B5BACA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Segregation of sexes in deer (Clutton-Brock et al. 1987)</a:t>
            </a:r>
          </a:p>
          <a:p>
            <a:r>
              <a:rPr lang="en-US" dirty="0">
                <a:ea typeface="+mn-lt"/>
                <a:cs typeface="+mn-lt"/>
              </a:rPr>
              <a:t>Hinds and their offspring are more likely to be affected by competition with other hinds and juveniles instead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Therefore, used hind density alone and not a combined (hinds + stags) density for hind or calf traits</a:t>
            </a:r>
          </a:p>
        </p:txBody>
      </p:sp>
    </p:spTree>
    <p:extLst>
      <p:ext uri="{BB962C8B-B14F-4D97-AF65-F5344CB8AC3E}">
        <p14:creationId xmlns:p14="http://schemas.microsoft.com/office/powerpoint/2010/main" val="7039704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3EA55-6056-973D-B564-C6B5A462D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aseline="0" dirty="0">
                <a:latin typeface="Sabon Next LT"/>
              </a:rPr>
              <a:t>Justification of using hind density</a:t>
            </a:r>
            <a:r>
              <a:rPr lang="en-US" sz="4400" dirty="0">
                <a:latin typeface="Sabon Next LT"/>
                <a:ea typeface="Sabon Next LT"/>
                <a:cs typeface="Sabon Next LT"/>
              </a:rPr>
              <a:t>​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C37705-489F-5E45-BD37-B8BE972EB3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228600" lvl="0" indent="-228600" rtl="0">
              <a:buFont typeface=""/>
              <a:buChar char="•"/>
            </a:pPr>
            <a:r>
              <a:rPr lang="en-US" sz="2800" baseline="0" dirty="0">
                <a:latin typeface="Avenir Next LT Pro"/>
                <a:ea typeface="Arial"/>
                <a:cs typeface="Arial"/>
              </a:rPr>
              <a:t>Clutton-Brock tested both </a:t>
            </a:r>
            <a:r>
              <a:rPr lang="en-US" sz="2800" b="1" baseline="0" dirty="0">
                <a:latin typeface="Avenir Next LT Pro"/>
                <a:ea typeface="Arial"/>
                <a:cs typeface="Arial"/>
              </a:rPr>
              <a:t>hind and combined density</a:t>
            </a:r>
            <a:r>
              <a:rPr lang="en-US" sz="2800" baseline="0" dirty="0">
                <a:latin typeface="Avenir Next LT Pro"/>
                <a:ea typeface="Arial"/>
                <a:cs typeface="Arial"/>
              </a:rPr>
              <a:t> as predictors </a:t>
            </a:r>
            <a:r>
              <a:rPr lang="en-US" sz="2800" b="1" baseline="0" dirty="0">
                <a:latin typeface="Avenir Next LT Pro"/>
                <a:ea typeface="Arial"/>
                <a:cs typeface="Arial"/>
              </a:rPr>
              <a:t>for stag</a:t>
            </a:r>
            <a:r>
              <a:rPr lang="en-US" sz="2800" baseline="0" dirty="0">
                <a:latin typeface="Avenir Next LT Pro"/>
                <a:ea typeface="Arial"/>
                <a:cs typeface="Arial"/>
              </a:rPr>
              <a:t> growth and survival</a:t>
            </a:r>
            <a:r>
              <a:rPr lang="en-US" sz="2800" dirty="0">
                <a:latin typeface="Avenir Next LT Pro"/>
                <a:ea typeface="Arial"/>
                <a:cs typeface="Arial"/>
              </a:rPr>
              <a:t>​</a:t>
            </a:r>
          </a:p>
          <a:p>
            <a:pPr>
              <a:buFont typeface=""/>
              <a:buChar char="•"/>
            </a:pPr>
            <a:r>
              <a:rPr lang="en-US" dirty="0">
                <a:latin typeface="Avenir Next LT Pro"/>
                <a:ea typeface="Arial"/>
                <a:cs typeface="Arial"/>
              </a:rPr>
              <a:t>Found</a:t>
            </a:r>
            <a:r>
              <a:rPr lang="en-US" sz="2800" baseline="0" dirty="0">
                <a:latin typeface="Avenir Next LT Pro"/>
                <a:ea typeface="Arial"/>
                <a:cs typeface="Arial"/>
              </a:rPr>
              <a:t> hind density </a:t>
            </a:r>
            <a:r>
              <a:rPr lang="en-US" dirty="0">
                <a:latin typeface="Avenir Next LT Pro"/>
                <a:ea typeface="Arial"/>
                <a:cs typeface="Arial"/>
              </a:rPr>
              <a:t>to</a:t>
            </a:r>
            <a:r>
              <a:rPr lang="en-US" sz="2800" baseline="0" dirty="0">
                <a:latin typeface="Avenir Next LT Pro"/>
                <a:ea typeface="Arial"/>
                <a:cs typeface="Arial"/>
              </a:rPr>
              <a:t> be a better predictor</a:t>
            </a:r>
            <a:r>
              <a:rPr lang="en-US" dirty="0">
                <a:latin typeface="Avenir Next LT Pro"/>
                <a:ea typeface="Arial"/>
                <a:cs typeface="Arial"/>
              </a:rPr>
              <a:t> for stag performance</a:t>
            </a:r>
          </a:p>
          <a:p>
            <a:pPr>
              <a:buFont typeface=""/>
              <a:buChar char="•"/>
            </a:pPr>
            <a:endParaRPr lang="en-US" dirty="0">
              <a:cs typeface="Arial"/>
            </a:endParaRPr>
          </a:p>
          <a:p>
            <a:pPr>
              <a:buFont typeface=""/>
              <a:buChar char="•"/>
            </a:pPr>
            <a:r>
              <a:rPr lang="en-US" dirty="0">
                <a:ea typeface="+mn-lt"/>
                <a:cs typeface="+mn-lt"/>
              </a:rPr>
              <a:t>You might have noticed some issues with that decision already...</a:t>
            </a:r>
          </a:p>
        </p:txBody>
      </p:sp>
    </p:spTree>
    <p:extLst>
      <p:ext uri="{BB962C8B-B14F-4D97-AF65-F5344CB8AC3E}">
        <p14:creationId xmlns:p14="http://schemas.microsoft.com/office/powerpoint/2010/main" val="3291771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FF619-565B-55F2-ADA0-72D0DFEA5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Sabon Next LT"/>
              </a:rPr>
              <a:t>Problem of using hind density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2C848E-2609-0441-09CB-59B489E4C8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Clutton-Brock </a:t>
            </a:r>
            <a:r>
              <a:rPr lang="en-US" dirty="0"/>
              <a:t>did</a:t>
            </a:r>
            <a:r>
              <a:rPr lang="en-US" dirty="0">
                <a:ea typeface="+mn-lt"/>
                <a:cs typeface="+mn-lt"/>
              </a:rPr>
              <a:t> not apply the same reasoning for stag traits 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If Hinds only competes with hinds, then stags should compete with stags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He only tested hind and combined density for stags, not stag alone</a:t>
            </a:r>
            <a:endParaRPr lang="en-US" dirty="0"/>
          </a:p>
          <a:p>
            <a:pPr marL="457200" lvl="1" indent="0">
              <a:buNone/>
            </a:pPr>
            <a:endParaRPr lang="en-US" dirty="0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In reality, the two sexes are not fully segregated </a:t>
            </a:r>
          </a:p>
          <a:p>
            <a:r>
              <a:rPr lang="en-US" dirty="0">
                <a:ea typeface="+mn-lt"/>
                <a:cs typeface="+mn-lt"/>
              </a:rPr>
              <a:t>Overlooks a substantial part of the population (stags and calves)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who also compete for the same forage supply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struggle to capture the full spectrum of ecological impacts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29436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8B048C4-AB77-4182-B261-2C9BE59621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lumMod val="9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700D801-79CB-4F23-8DF8-6B0F45FCD1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 flipV="1">
            <a:off x="6955029" y="1"/>
            <a:ext cx="5236971" cy="6858000"/>
            <a:chOff x="20829" y="1"/>
            <a:chExt cx="5236971" cy="6857999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AA52F426-0370-4291-8DA2-6F1DB66EAF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1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829" y="692703"/>
              <a:ext cx="5236971" cy="6165297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987AEA36-C28D-4764-988B-6C2AC65033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3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154" b="19117"/>
            <a:stretch/>
          </p:blipFill>
          <p:spPr>
            <a:xfrm rot="5400000">
              <a:off x="393956" y="-373126"/>
              <a:ext cx="4197222" cy="4943475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47FF619-565B-55F2-ADA0-72D0DFEA5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6992"/>
            <a:ext cx="10491409" cy="166457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>
                <a:ea typeface="+mj-lt"/>
                <a:cs typeface="+mj-lt"/>
              </a:rPr>
              <a:t>Correlation between different measures of population sizes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2C848E-2609-0441-09CB-59B489E4C8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11653"/>
            <a:ext cx="10503072" cy="372861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Number of resident </a:t>
            </a:r>
            <a:r>
              <a:rPr lang="en-US" b="1" dirty="0">
                <a:ea typeface="+mn-lt"/>
                <a:cs typeface="+mn-lt"/>
              </a:rPr>
              <a:t>hinds is not strongly correlated with </a:t>
            </a:r>
            <a:r>
              <a:rPr lang="en-US" dirty="0">
                <a:ea typeface="+mn-lt"/>
                <a:cs typeface="+mn-lt"/>
              </a:rPr>
              <a:t>the number of resident</a:t>
            </a:r>
            <a:r>
              <a:rPr lang="en-US" b="1" dirty="0">
                <a:ea typeface="+mn-lt"/>
                <a:cs typeface="+mn-lt"/>
              </a:rPr>
              <a:t> stags or calves </a:t>
            </a:r>
          </a:p>
        </p:txBody>
      </p:sp>
      <p:graphicFrame>
        <p:nvGraphicFramePr>
          <p:cNvPr id="6" name="Content Placeholder 4">
            <a:extLst>
              <a:ext uri="{FF2B5EF4-FFF2-40B4-BE49-F238E27FC236}">
                <a16:creationId xmlns:a16="http://schemas.microsoft.com/office/drawing/2014/main" id="{EFD97CEE-3E02-AB33-7443-DB5594FA916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4944003"/>
              </p:ext>
            </p:extLst>
          </p:nvPr>
        </p:nvGraphicFramePr>
        <p:xfrm>
          <a:off x="862641" y="3881887"/>
          <a:ext cx="10489185" cy="22860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097837">
                  <a:extLst>
                    <a:ext uri="{9D8B030D-6E8A-4147-A177-3AD203B41FA5}">
                      <a16:colId xmlns:a16="http://schemas.microsoft.com/office/drawing/2014/main" val="410679192"/>
                    </a:ext>
                  </a:extLst>
                </a:gridCol>
                <a:gridCol w="2097837">
                  <a:extLst>
                    <a:ext uri="{9D8B030D-6E8A-4147-A177-3AD203B41FA5}">
                      <a16:colId xmlns:a16="http://schemas.microsoft.com/office/drawing/2014/main" val="4050190242"/>
                    </a:ext>
                  </a:extLst>
                </a:gridCol>
                <a:gridCol w="2097837">
                  <a:extLst>
                    <a:ext uri="{9D8B030D-6E8A-4147-A177-3AD203B41FA5}">
                      <a16:colId xmlns:a16="http://schemas.microsoft.com/office/drawing/2014/main" val="1004210895"/>
                    </a:ext>
                  </a:extLst>
                </a:gridCol>
                <a:gridCol w="2097837">
                  <a:extLst>
                    <a:ext uri="{9D8B030D-6E8A-4147-A177-3AD203B41FA5}">
                      <a16:colId xmlns:a16="http://schemas.microsoft.com/office/drawing/2014/main" val="3714493509"/>
                    </a:ext>
                  </a:extLst>
                </a:gridCol>
                <a:gridCol w="2097837">
                  <a:extLst>
                    <a:ext uri="{9D8B030D-6E8A-4147-A177-3AD203B41FA5}">
                      <a16:colId xmlns:a16="http://schemas.microsoft.com/office/drawing/2014/main" val="1388989563"/>
                    </a:ext>
                  </a:extLst>
                </a:gridCol>
              </a:tblGrid>
              <a:tr h="457199">
                <a:tc>
                  <a:txBody>
                    <a:bodyPr/>
                    <a:lstStyle/>
                    <a:p>
                      <a:pPr fontAlgn="auto"/>
                      <a:endParaRPr lang="en-US" sz="2400" b="1">
                        <a:solidFill>
                          <a:srgbClr val="FFFFFF"/>
                        </a:solidFill>
                        <a:effectLst/>
                        <a:latin typeface="Avenir Next LT Pro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04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58468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400" b="1" dirty="0">
                          <a:solidFill>
                            <a:srgbClr val="FFFFFF"/>
                          </a:solidFill>
                          <a:effectLst/>
                          <a:latin typeface="Avenir Next LT Pro"/>
                        </a:rPr>
                        <a:t>Hinds</a:t>
                      </a: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04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58468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400" b="1" dirty="0">
                          <a:solidFill>
                            <a:srgbClr val="FFFFFF"/>
                          </a:solidFill>
                          <a:effectLst/>
                          <a:latin typeface="Avenir Next LT Pro"/>
                        </a:rPr>
                        <a:t>Stags</a:t>
                      </a: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04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58468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400" b="1">
                          <a:solidFill>
                            <a:srgbClr val="FFFFFF"/>
                          </a:solidFill>
                          <a:effectLst/>
                          <a:latin typeface="Avenir Next LT Pro"/>
                        </a:rPr>
                        <a:t>Calves</a:t>
                      </a: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04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58468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400" b="1">
                          <a:solidFill>
                            <a:srgbClr val="FFFFFF"/>
                          </a:solidFill>
                          <a:effectLst/>
                          <a:latin typeface="Avenir Next LT Pro"/>
                        </a:rPr>
                        <a:t>Combined</a:t>
                      </a: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04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584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0015130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fontAlgn="base"/>
                      <a:r>
                        <a:rPr lang="en-US" sz="2400" b="1">
                          <a:solidFill>
                            <a:srgbClr val="FFFFFF"/>
                          </a:solidFill>
                          <a:effectLst/>
                          <a:latin typeface="Avenir Next LT Pro"/>
                        </a:rPr>
                        <a:t>Hinds</a:t>
                      </a: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04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58468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400" b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venir Next LT Pro"/>
                        </a:rPr>
                        <a:t>1.00</a:t>
                      </a: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04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9D4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400" b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venir Next LT Pro"/>
                        </a:rPr>
                        <a:t>-0.433 </a:t>
                      </a: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04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9D4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400" b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venir Next LT Pro"/>
                        </a:rPr>
                        <a:t>0.586 </a:t>
                      </a: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04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9D4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400" b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venir Next LT Pro"/>
                        </a:rPr>
                        <a:t>0.331 </a:t>
                      </a: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04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9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2507993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fontAlgn="base"/>
                      <a:r>
                        <a:rPr lang="en-US" sz="2400" b="1">
                          <a:solidFill>
                            <a:srgbClr val="FFFFFF"/>
                          </a:solidFill>
                          <a:effectLst/>
                          <a:latin typeface="Avenir Next LT Pro"/>
                        </a:rPr>
                        <a:t>Stags</a:t>
                      </a: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58468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400" b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venir Next LT Pro"/>
                        </a:rPr>
                        <a:t>-0.433 </a:t>
                      </a: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B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400" b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venir Next LT Pro"/>
                        </a:rPr>
                        <a:t>1.00</a:t>
                      </a: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B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400" b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venir Next LT Pro"/>
                        </a:rPr>
                        <a:t>-0.328 </a:t>
                      </a: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B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400" b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venir Next LT Pro"/>
                        </a:rPr>
                        <a:t>0.707 </a:t>
                      </a: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8851669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fontAlgn="base"/>
                      <a:r>
                        <a:rPr lang="en-US" sz="2400" b="1">
                          <a:solidFill>
                            <a:srgbClr val="FFFFFF"/>
                          </a:solidFill>
                          <a:effectLst/>
                          <a:latin typeface="Avenir Next LT Pro"/>
                        </a:rPr>
                        <a:t>Calves</a:t>
                      </a: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58468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400" b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venir Next LT Pro"/>
                        </a:rPr>
                        <a:t>0.586 </a:t>
                      </a: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9D4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400" b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venir Next LT Pro"/>
                        </a:rPr>
                        <a:t>-0.328 </a:t>
                      </a: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9D4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400" b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venir Next LT Pro"/>
                        </a:rPr>
                        <a:t>1.00</a:t>
                      </a: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9D4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400" b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venir Next LT Pro"/>
                        </a:rPr>
                        <a:t>0.117 </a:t>
                      </a: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9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9466301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fontAlgn="base"/>
                      <a:r>
                        <a:rPr lang="en-US" sz="2400" b="1">
                          <a:solidFill>
                            <a:srgbClr val="FFFFFF"/>
                          </a:solidFill>
                          <a:effectLst/>
                          <a:latin typeface="Avenir Next LT Pro"/>
                        </a:rPr>
                        <a:t>Adults</a:t>
                      </a: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58468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400" b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venir Next LT Pro"/>
                        </a:rPr>
                        <a:t>0.331 </a:t>
                      </a: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B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400" b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venir Next LT Pro"/>
                        </a:rPr>
                        <a:t>0.707 </a:t>
                      </a: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B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400" b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venir Next LT Pro"/>
                        </a:rPr>
                        <a:t>0.117 </a:t>
                      </a: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B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400" b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venir Next LT Pro"/>
                        </a:rPr>
                        <a:t>1.00</a:t>
                      </a: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45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25149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8B308828-4749-4D6D-9CEA-433D2BD27E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0" y="0"/>
            <a:ext cx="7724071" cy="6858000"/>
            <a:chOff x="4464881" y="0"/>
            <a:chExt cx="7724071" cy="6858000"/>
          </a:xfrm>
        </p:grpSpPr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FA43358F-8AF6-45AF-B1D4-3EA84DDE72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1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3255" y="0"/>
              <a:ext cx="5115697" cy="6858000"/>
            </a:xfrm>
            <a:prstGeom prst="rect">
              <a:avLst/>
            </a:prstGeom>
          </p:spPr>
        </p:pic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33B887FE-73E4-4849-9FF5-BEBA04068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4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7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5412135" y="-947254"/>
              <a:ext cx="5562598" cy="7457106"/>
            </a:xfrm>
            <a:prstGeom prst="rect">
              <a:avLst/>
            </a:prstGeom>
            <a:effectLst>
              <a:softEdge rad="0"/>
            </a:effectLst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C7477D1-7883-1238-1418-E6AE901BD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828" y="856593"/>
            <a:ext cx="5410200" cy="670144"/>
          </a:xfrm>
        </p:spPr>
        <p:txBody>
          <a:bodyPr>
            <a:normAutofit/>
          </a:bodyPr>
          <a:lstStyle/>
          <a:p>
            <a:r>
              <a:rPr lang="en-US" sz="3600">
                <a:cs typeface="Sabon Next LT"/>
              </a:rPr>
              <a:t>Deer Density</a:t>
            </a:r>
            <a:endParaRPr lang="en-US" sz="3600"/>
          </a:p>
        </p:txBody>
      </p:sp>
      <p:sp>
        <p:nvSpPr>
          <p:cNvPr id="26" name="Content Placeholder 7">
            <a:extLst>
              <a:ext uri="{FF2B5EF4-FFF2-40B4-BE49-F238E27FC236}">
                <a16:creationId xmlns:a16="http://schemas.microsoft.com/office/drawing/2014/main" id="{9459F9D8-948D-A2BB-3707-2D81393A9B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0828" y="1531884"/>
            <a:ext cx="4516821" cy="4272454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400" b="1" dirty="0"/>
              <a:t>Surge in hind population</a:t>
            </a:r>
            <a:r>
              <a:rPr lang="en-US" sz="2400" dirty="0"/>
              <a:t> size after cessation of culling</a:t>
            </a:r>
          </a:p>
          <a:p>
            <a:r>
              <a:rPr lang="en-US" sz="2400" dirty="0"/>
              <a:t>Reached and fluctuated around </a:t>
            </a:r>
            <a:r>
              <a:rPr lang="en-US" sz="2400" b="1" dirty="0"/>
              <a:t>carrying capacity</a:t>
            </a:r>
            <a:r>
              <a:rPr lang="en-US" sz="2400" dirty="0"/>
              <a:t> for the past 40 years</a:t>
            </a:r>
          </a:p>
          <a:p>
            <a:r>
              <a:rPr lang="en-US" sz="2400" b="1" dirty="0"/>
              <a:t>Stag population continued to decline</a:t>
            </a:r>
            <a:r>
              <a:rPr lang="en-US" sz="2400" dirty="0"/>
              <a:t>, possibly due to resource competition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F275AE6-F7E8-0F76-3EDC-32B496DC72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56064" y="672395"/>
            <a:ext cx="6659952" cy="5514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6858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BD6BC2-50C1-E3DB-3E2B-74CE594B8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Sabon Next LT"/>
              </a:rPr>
              <a:t>Historical Context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E3C27E-2A59-8A97-8DA7-948DD06FE1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>
                <a:ea typeface="+mn-lt"/>
                <a:cs typeface="+mn-lt"/>
              </a:rPr>
              <a:t>Culling </a:t>
            </a:r>
            <a:r>
              <a:rPr lang="en-US" dirty="0">
                <a:ea typeface="+mn-lt"/>
                <a:cs typeface="+mn-lt"/>
              </a:rPr>
              <a:t>in the study area also persisted until 1973 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Regular supplementary feeding</a:t>
            </a:r>
            <a:r>
              <a:rPr lang="en-US" dirty="0">
                <a:ea typeface="+mn-lt"/>
                <a:cs typeface="+mn-lt"/>
              </a:rPr>
              <a:t> in the study area from 1968 to 1972 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Rarely mentioned in studies on Rum</a:t>
            </a:r>
          </a:p>
          <a:p>
            <a:r>
              <a:rPr lang="en-US" dirty="0">
                <a:latin typeface="Avenir Next LT Pro"/>
                <a:ea typeface="+mn-lt"/>
                <a:cs typeface="Arial"/>
              </a:rPr>
              <a:t>These management practices might have lingered effect</a:t>
            </a:r>
            <a:endParaRPr lang="en-US" dirty="0">
              <a:latin typeface="Avenir Next LT Pro"/>
            </a:endParaRPr>
          </a:p>
          <a:p>
            <a:r>
              <a:rPr lang="en-US" b="1" dirty="0">
                <a:ea typeface="+mn-lt"/>
                <a:cs typeface="+mn-lt"/>
              </a:rPr>
              <a:t>Coincided with initial years</a:t>
            </a:r>
            <a:r>
              <a:rPr lang="en-US" dirty="0">
                <a:ea typeface="+mn-lt"/>
                <a:cs typeface="+mn-lt"/>
              </a:rPr>
              <a:t> of early work on Rum </a:t>
            </a:r>
            <a:endParaRPr lang="en-US" dirty="0">
              <a:ea typeface="+mn-lt"/>
              <a:cs typeface="Arial"/>
            </a:endParaRPr>
          </a:p>
          <a:p>
            <a:pPr lvl="1"/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endParaRPr lang="en-US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523328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3F14D-7D37-9453-27DD-532010361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694" y="365760"/>
            <a:ext cx="11525726" cy="1338700"/>
          </a:xfrm>
        </p:spPr>
        <p:txBody>
          <a:bodyPr>
            <a:normAutofit/>
          </a:bodyPr>
          <a:lstStyle/>
          <a:p>
            <a:r>
              <a:rPr lang="en-US" dirty="0">
                <a:cs typeface="Sabon Next LT"/>
              </a:rPr>
              <a:t>Temporal Trends</a:t>
            </a:r>
            <a:r>
              <a:rPr lang="en-US" sz="1600" dirty="0">
                <a:ea typeface="+mj-lt"/>
                <a:cs typeface="+mj-lt"/>
              </a:rPr>
              <a:t>(Vickery and Nudds 1984; </a:t>
            </a:r>
            <a:r>
              <a:rPr lang="en-US" sz="1600" dirty="0" err="1">
                <a:ea typeface="+mj-lt"/>
                <a:cs typeface="+mj-lt"/>
              </a:rPr>
              <a:t>Woiwod</a:t>
            </a:r>
            <a:r>
              <a:rPr lang="en-US" sz="1600" dirty="0">
                <a:ea typeface="+mj-lt"/>
                <a:cs typeface="+mj-lt"/>
              </a:rPr>
              <a:t> and Hanski 1992; Lande et al. 2006)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C784ED-2B4E-4150-DB9D-3F2A320923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dirty="0">
                <a:ea typeface="+mn-lt"/>
                <a:cs typeface="+mn-lt"/>
              </a:rPr>
              <a:t>Climate variability, changes in resource availability, and management interventions, can introduce trends independent to density</a:t>
            </a:r>
            <a:endParaRPr lang="en-US"/>
          </a:p>
          <a:p>
            <a:r>
              <a:rPr lang="en-US" dirty="0">
                <a:ea typeface="+mn-lt"/>
                <a:cs typeface="+mn-lt"/>
              </a:rPr>
              <a:t>Obscuring the detection of density dependence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endParaRPr lang="en-US" dirty="0">
              <a:ea typeface="+mn-lt"/>
              <a:cs typeface="+mn-lt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Density dependence was detected in </a:t>
            </a:r>
            <a:r>
              <a:rPr lang="en-US" b="1" dirty="0">
                <a:ea typeface="+mn-lt"/>
                <a:cs typeface="+mn-lt"/>
              </a:rPr>
              <a:t>87-91% of aphid</a:t>
            </a:r>
            <a:r>
              <a:rPr lang="en-US" dirty="0">
                <a:ea typeface="+mn-lt"/>
                <a:cs typeface="+mn-lt"/>
              </a:rPr>
              <a:t> series without trends but only in </a:t>
            </a:r>
            <a:r>
              <a:rPr lang="en-US" b="1" dirty="0">
                <a:ea typeface="+mn-lt"/>
                <a:cs typeface="+mn-lt"/>
              </a:rPr>
              <a:t>35-50%</a:t>
            </a:r>
            <a:r>
              <a:rPr lang="en-US" dirty="0">
                <a:ea typeface="+mn-lt"/>
                <a:cs typeface="+mn-lt"/>
              </a:rPr>
              <a:t> with trends (</a:t>
            </a:r>
            <a:r>
              <a:rPr lang="en-US" err="1">
                <a:ea typeface="+mn-lt"/>
                <a:cs typeface="+mn-lt"/>
              </a:rPr>
              <a:t>Woiwod</a:t>
            </a:r>
            <a:r>
              <a:rPr lang="en-US" dirty="0">
                <a:ea typeface="+mn-lt"/>
                <a:cs typeface="+mn-lt"/>
              </a:rPr>
              <a:t> and Hanski 1992)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Detected in </a:t>
            </a:r>
            <a:r>
              <a:rPr lang="en-US" b="1" dirty="0">
                <a:ea typeface="+mn-lt"/>
                <a:cs typeface="+mn-lt"/>
              </a:rPr>
              <a:t>67-88% of moths</a:t>
            </a:r>
            <a:r>
              <a:rPr lang="en-US" dirty="0">
                <a:ea typeface="+mn-lt"/>
                <a:cs typeface="+mn-lt"/>
              </a:rPr>
              <a:t> series without trends but only in </a:t>
            </a:r>
            <a:r>
              <a:rPr lang="en-US" b="1" dirty="0">
                <a:ea typeface="+mn-lt"/>
                <a:cs typeface="+mn-lt"/>
              </a:rPr>
              <a:t>43-72%</a:t>
            </a:r>
            <a:r>
              <a:rPr lang="en-US" dirty="0">
                <a:ea typeface="+mn-lt"/>
                <a:cs typeface="+mn-lt"/>
              </a:rPr>
              <a:t> with trends (</a:t>
            </a:r>
            <a:r>
              <a:rPr lang="en-US" dirty="0" err="1">
                <a:ea typeface="+mn-lt"/>
                <a:cs typeface="+mn-lt"/>
              </a:rPr>
              <a:t>Woiwod</a:t>
            </a:r>
            <a:r>
              <a:rPr lang="en-US" dirty="0">
                <a:ea typeface="+mn-lt"/>
                <a:cs typeface="+mn-lt"/>
              </a:rPr>
              <a:t> and Hanski 1992)</a:t>
            </a:r>
          </a:p>
        </p:txBody>
      </p:sp>
    </p:spTree>
    <p:extLst>
      <p:ext uri="{BB962C8B-B14F-4D97-AF65-F5344CB8AC3E}">
        <p14:creationId xmlns:p14="http://schemas.microsoft.com/office/powerpoint/2010/main" val="9638897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2" name="Rectangle 71">
            <a:extLst>
              <a:ext uri="{FF2B5EF4-FFF2-40B4-BE49-F238E27FC236}">
                <a16:creationId xmlns:a16="http://schemas.microsoft.com/office/drawing/2014/main" id="{37FDDF72-DE39-4F99-A3C1-DD9D7815D7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5E4ECE80-3AD1-450C-B62A-98788F1939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6" name="Picture 5" descr="A person holding an object on a rocky hill&#10;&#10;Description automatically generated">
            <a:extLst>
              <a:ext uri="{FF2B5EF4-FFF2-40B4-BE49-F238E27FC236}">
                <a16:creationId xmlns:a16="http://schemas.microsoft.com/office/drawing/2014/main" id="{5CB33056-27BA-76F4-3109-F50E5651BB2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0000"/>
          </a:blip>
          <a:srcRect l="1338" r="1" b="1"/>
          <a:stretch/>
        </p:blipFill>
        <p:spPr>
          <a:xfrm>
            <a:off x="3048" y="10"/>
            <a:ext cx="12188952" cy="68566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8870522-8F36-A538-34DF-6175D55C3E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6275" y="744909"/>
            <a:ext cx="10190071" cy="3145855"/>
          </a:xfrm>
        </p:spPr>
        <p:txBody>
          <a:bodyPr anchor="b">
            <a:normAutofit/>
          </a:bodyPr>
          <a:lstStyle/>
          <a:p>
            <a:r>
              <a:rPr lang="en-US" sz="5200" dirty="0">
                <a:solidFill>
                  <a:srgbClr val="FFFFFF"/>
                </a:solidFill>
                <a:cs typeface="Sabon Next LT"/>
              </a:rPr>
              <a:t>Aims</a:t>
            </a:r>
          </a:p>
        </p:txBody>
      </p:sp>
    </p:spTree>
    <p:extLst>
      <p:ext uri="{BB962C8B-B14F-4D97-AF65-F5344CB8AC3E}">
        <p14:creationId xmlns:p14="http://schemas.microsoft.com/office/powerpoint/2010/main" val="23721747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5CD2B-9A36-C247-5E0A-F61347167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Sabon Next LT"/>
              </a:rPr>
              <a:t>Research Questions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717E62-AFA3-5E0D-43E1-49B90963CF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What density measure is the most predictive? </a:t>
            </a:r>
            <a:endParaRPr lang="en-US" dirty="0"/>
          </a:p>
          <a:p>
            <a:pPr marL="0" indent="0">
              <a:buNone/>
            </a:pPr>
            <a:endParaRPr lang="en-US"/>
          </a:p>
          <a:p>
            <a:r>
              <a:rPr lang="en-US" dirty="0">
                <a:ea typeface="+mn-lt"/>
                <a:cs typeface="+mn-lt"/>
              </a:rPr>
              <a:t>Does it make a difference to fit year as a fixed effect? 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were there temporal trends existing independent of density?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14470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BABF38A-8A0D-492E-BD20-6CF4D46B5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4"/>
          </a:xfrm>
          <a:prstGeom prst="rect">
            <a:avLst/>
          </a:prstGeom>
          <a:solidFill>
            <a:schemeClr val="bg2">
              <a:lumMod val="9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C526B7A-4801-4FD1-95C8-03AF22629E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400" y="0"/>
            <a:ext cx="3654612" cy="4575348"/>
          </a:xfrm>
          <a:prstGeom prst="rect">
            <a:avLst/>
          </a:prstGeom>
        </p:spPr>
      </p:pic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DE61FBD7-E37C-4B38-BE44-A6D4978D7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23772C2-0911-45A0-B7B6-D811380C75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3A6A32E-D196-4536-A9E8-56D5BB884F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657587" y="5080"/>
            <a:ext cx="4531366" cy="6014720"/>
            <a:chOff x="7657587" y="5080"/>
            <a:chExt cx="4531366" cy="6014720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B88E3398-5BD2-49D6-A547-80FBD0FECC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3">
              <a:alphaModFix amt="1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818" b="17291"/>
            <a:stretch/>
          </p:blipFill>
          <p:spPr>
            <a:xfrm flipH="1" flipV="1">
              <a:off x="7657587" y="5080"/>
              <a:ext cx="4531366" cy="4864019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80E4B511-9D99-4EAC-908E-9B474A5233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3">
              <a:alphaModFix amt="16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0690"/>
            <a:stretch/>
          </p:blipFill>
          <p:spPr>
            <a:xfrm flipV="1">
              <a:off x="8627628" y="5080"/>
              <a:ext cx="3561325" cy="6014720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93BED98-7C1F-5BAF-7693-1A45D2CDE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576" y="744909"/>
            <a:ext cx="10591800" cy="315541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>
                <a:solidFill>
                  <a:srgbClr val="FFFFFF"/>
                </a:solidFill>
                <a:cs typeface="Sabon Next LT"/>
              </a:rPr>
              <a:t>Methods</a:t>
            </a:r>
            <a:endParaRPr lang="en-US" sz="52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71697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8ED5E97A-D21B-4AA4-83CF-DA3A380E30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0" y="0"/>
            <a:ext cx="7724071" cy="6858000"/>
            <a:chOff x="4464881" y="0"/>
            <a:chExt cx="7724071" cy="6858000"/>
          </a:xfrm>
        </p:grpSpPr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8AF5706D-4464-450F-93F4-853EDF68CE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1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3255" y="0"/>
              <a:ext cx="5115697" cy="6858000"/>
            </a:xfrm>
            <a:prstGeom prst="rect">
              <a:avLst/>
            </a:prstGeom>
          </p:spPr>
        </p:pic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3E0FB244-C158-43A9-AD7A-05DC5BBF6D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4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7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5412135" y="-947254"/>
              <a:ext cx="5562598" cy="7457106"/>
            </a:xfrm>
            <a:prstGeom prst="rect">
              <a:avLst/>
            </a:prstGeom>
            <a:effectLst>
              <a:softEdge rad="0"/>
            </a:effectLst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1947A15-7863-7854-3627-7906EBB8AB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6992"/>
            <a:ext cx="4888896" cy="997485"/>
          </a:xfrm>
        </p:spPr>
        <p:txBody>
          <a:bodyPr>
            <a:normAutofit fontScale="90000"/>
          </a:bodyPr>
          <a:lstStyle/>
          <a:p>
            <a:r>
              <a:rPr lang="en-US">
                <a:ea typeface="+mj-lt"/>
                <a:cs typeface="+mj-lt"/>
              </a:rPr>
              <a:t>Density Measures Tested </a:t>
            </a:r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0167D7F-0E74-5F5D-D022-90E066288A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50962"/>
            <a:ext cx="3993485" cy="432940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400" b="1" dirty="0">
                <a:ea typeface="+mn-lt"/>
                <a:cs typeface="+mn-lt"/>
              </a:rPr>
              <a:t>Hinds </a:t>
            </a:r>
            <a:endParaRPr lang="en-US" sz="2400" b="1"/>
          </a:p>
          <a:p>
            <a:r>
              <a:rPr lang="en-US" sz="2400" b="1" dirty="0">
                <a:ea typeface="+mn-lt"/>
                <a:cs typeface="+mn-lt"/>
              </a:rPr>
              <a:t>Adults 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 dirty="0">
                <a:ea typeface="+mn-lt"/>
                <a:cs typeface="+mn-lt"/>
              </a:rPr>
              <a:t>(Hinds + Stags) </a:t>
            </a:r>
            <a:endParaRPr lang="en-US" sz="2000" dirty="0"/>
          </a:p>
          <a:p>
            <a:r>
              <a:rPr lang="en-US" sz="2400" b="1" dirty="0">
                <a:ea typeface="+mn-lt"/>
                <a:cs typeface="+mn-lt"/>
              </a:rPr>
              <a:t>Total 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 dirty="0">
                <a:ea typeface="+mn-lt"/>
                <a:cs typeface="+mn-lt"/>
              </a:rPr>
              <a:t>(Hinds + Stags + Calves) </a:t>
            </a:r>
            <a:endParaRPr lang="en-US" sz="2000"/>
          </a:p>
          <a:p>
            <a:r>
              <a:rPr lang="en-US" sz="2400" b="1" dirty="0">
                <a:ea typeface="+mn-lt"/>
                <a:cs typeface="+mn-lt"/>
              </a:rPr>
              <a:t>Total Livestock Units 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   </a:t>
            </a:r>
            <a:r>
              <a:rPr lang="en-US" sz="2000" dirty="0">
                <a:ea typeface="+mn-lt"/>
                <a:cs typeface="+mn-lt"/>
              </a:rPr>
              <a:t>Hinds (0.3) </a:t>
            </a:r>
          </a:p>
          <a:p>
            <a:pPr marL="457200" lvl="1" indent="0">
              <a:buNone/>
            </a:pPr>
            <a:r>
              <a:rPr lang="en-US" sz="2000" dirty="0">
                <a:ea typeface="+mn-lt"/>
                <a:cs typeface="+mn-lt"/>
              </a:rPr>
              <a:t> + Stags (0.4) </a:t>
            </a:r>
          </a:p>
          <a:p>
            <a:pPr marL="457200" lvl="1" indent="0">
              <a:buNone/>
            </a:pPr>
            <a:r>
              <a:rPr lang="en-US" sz="2000" dirty="0">
                <a:ea typeface="+mn-lt"/>
                <a:cs typeface="+mn-lt"/>
              </a:rPr>
              <a:t> + Calves (0.2)</a:t>
            </a:r>
            <a:endParaRPr lang="en-US" sz="2000"/>
          </a:p>
        </p:txBody>
      </p:sp>
      <p:pic>
        <p:nvPicPr>
          <p:cNvPr id="3" name="Picture 2" descr="A graph of different colored lines&#10;&#10;Description automatically generated">
            <a:extLst>
              <a:ext uri="{FF2B5EF4-FFF2-40B4-BE49-F238E27FC236}">
                <a16:creationId xmlns:a16="http://schemas.microsoft.com/office/drawing/2014/main" id="{45C4BC04-47A8-7509-FC4D-58D2BAAD2762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-589" t="-72" r="508"/>
          <a:stretch/>
        </p:blipFill>
        <p:spPr>
          <a:xfrm>
            <a:off x="5040920" y="588464"/>
            <a:ext cx="7155326" cy="5810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49414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BC8BBE5-981E-4B0B-9654-32B5668BFF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lumMod val="9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8ED5E97A-D21B-4AA4-83CF-DA3A380E30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0" y="0"/>
            <a:ext cx="7724071" cy="6858000"/>
            <a:chOff x="4464881" y="0"/>
            <a:chExt cx="7724071" cy="6858000"/>
          </a:xfrm>
        </p:grpSpPr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8AF5706D-4464-450F-93F4-853EDF68CE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1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3255" y="0"/>
              <a:ext cx="5115697" cy="6858000"/>
            </a:xfrm>
            <a:prstGeom prst="rect">
              <a:avLst/>
            </a:prstGeom>
          </p:spPr>
        </p:pic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3E0FB244-C158-43A9-AD7A-05DC5BBF6D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4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7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5412135" y="-947254"/>
              <a:ext cx="5562598" cy="7457106"/>
            </a:xfrm>
            <a:prstGeom prst="rect">
              <a:avLst/>
            </a:prstGeom>
            <a:effectLst>
              <a:softEdge rad="0"/>
            </a:effectLst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5997514-4FCD-0C10-D95D-FFB4A84C6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131" y="416199"/>
            <a:ext cx="5796455" cy="1423113"/>
          </a:xfrm>
        </p:spPr>
        <p:txBody>
          <a:bodyPr>
            <a:normAutofit fontScale="90000"/>
          </a:bodyPr>
          <a:lstStyle/>
          <a:p>
            <a:r>
              <a:rPr lang="en-US" dirty="0">
                <a:ea typeface="+mj-lt"/>
                <a:cs typeface="+mj-lt"/>
              </a:rPr>
              <a:t>Life-History Traits Investigated </a:t>
            </a:r>
            <a:endParaRPr lang="en-US" dirty="0"/>
          </a:p>
        </p:txBody>
      </p:sp>
      <p:pic>
        <p:nvPicPr>
          <p:cNvPr id="20" name="Picture 19" descr="A person holding a baby deer&#10;&#10;Description automatically generated">
            <a:extLst>
              <a:ext uri="{FF2B5EF4-FFF2-40B4-BE49-F238E27FC236}">
                <a16:creationId xmlns:a16="http://schemas.microsoft.com/office/drawing/2014/main" id="{C5440FB9-92ED-28F6-74F9-B87DF1754FB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151" r="1" b="2366"/>
          <a:stretch/>
        </p:blipFill>
        <p:spPr>
          <a:xfrm>
            <a:off x="6861048" y="1"/>
            <a:ext cx="5330952" cy="6858000"/>
          </a:xfrm>
          <a:prstGeom prst="rect">
            <a:avLst/>
          </a:prstGeom>
        </p:spPr>
      </p:pic>
      <p:graphicFrame>
        <p:nvGraphicFramePr>
          <p:cNvPr id="86" name="Diagram 85">
            <a:extLst>
              <a:ext uri="{FF2B5EF4-FFF2-40B4-BE49-F238E27FC236}">
                <a16:creationId xmlns:a16="http://schemas.microsoft.com/office/drawing/2014/main" id="{8276CA23-5B14-1FF2-0357-7997B1EF3D2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95584171"/>
              </p:ext>
            </p:extLst>
          </p:nvPr>
        </p:nvGraphicFramePr>
        <p:xfrm>
          <a:off x="638129" y="2079734"/>
          <a:ext cx="5468195" cy="43510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</p:spTree>
    <p:extLst>
      <p:ext uri="{BB962C8B-B14F-4D97-AF65-F5344CB8AC3E}">
        <p14:creationId xmlns:p14="http://schemas.microsoft.com/office/powerpoint/2010/main" val="16834503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C5865-33DB-97B4-1787-5EDF5BDCC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Sabon Next LT"/>
              </a:rPr>
              <a:t>Temporal Detrending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17100F-C92C-CA21-0C95-B25DDB0B33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With or Without Year as a fixed effect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captures systematic trends over time</a:t>
            </a:r>
          </a:p>
          <a:p>
            <a:r>
              <a:rPr lang="en-US" dirty="0">
                <a:ea typeface="+mn-lt"/>
                <a:cs typeface="+mn-lt"/>
              </a:rPr>
              <a:t>Year as a random effect 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captures random variability around these fixed trends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acknowledging unique yearly factors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20654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D457D-FCC4-311D-45A1-150E6C74A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694" y="365760"/>
            <a:ext cx="10895106" cy="757087"/>
          </a:xfrm>
        </p:spPr>
        <p:txBody>
          <a:bodyPr>
            <a:normAutofit fontScale="90000"/>
          </a:bodyPr>
          <a:lstStyle/>
          <a:p>
            <a:r>
              <a:rPr lang="en-US" err="1">
                <a:ea typeface="+mj-lt"/>
                <a:cs typeface="+mj-lt"/>
              </a:rPr>
              <a:t>Generalised</a:t>
            </a:r>
            <a:r>
              <a:rPr lang="en-US" dirty="0">
                <a:ea typeface="+mj-lt"/>
                <a:cs typeface="+mj-lt"/>
              </a:rPr>
              <a:t> Linear Mixed Models </a:t>
            </a:r>
            <a:br>
              <a:rPr lang="en-US" dirty="0">
                <a:ea typeface="+mj-lt"/>
                <a:cs typeface="+mj-lt"/>
              </a:rPr>
            </a:br>
            <a:r>
              <a:rPr lang="en-US" sz="3600" dirty="0">
                <a:ea typeface="+mj-lt"/>
                <a:cs typeface="+mj-lt"/>
              </a:rPr>
              <a:t>using </a:t>
            </a:r>
            <a:r>
              <a:rPr lang="en-US" sz="3600" err="1">
                <a:ea typeface="+mj-lt"/>
                <a:cs typeface="+mj-lt"/>
              </a:rPr>
              <a:t>glmmTMB</a:t>
            </a:r>
            <a:r>
              <a:rPr lang="en-US" sz="3600" dirty="0">
                <a:ea typeface="+mj-lt"/>
                <a:cs typeface="+mj-lt"/>
              </a:rPr>
              <a:t>()</a:t>
            </a:r>
            <a:endParaRPr lang="en-US" sz="3600">
              <a:cs typeface="Sabon Next LT"/>
            </a:endParaRPr>
          </a:p>
        </p:txBody>
      </p:sp>
      <p:pic>
        <p:nvPicPr>
          <p:cNvPr id="666" name="Content Placeholder 665">
            <a:extLst>
              <a:ext uri="{FF2B5EF4-FFF2-40B4-BE49-F238E27FC236}">
                <a16:creationId xmlns:a16="http://schemas.microsoft.com/office/drawing/2014/main" id="{F4CD1165-497C-DE10-E919-180BA28F4C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293265" y="3184689"/>
            <a:ext cx="9617565" cy="3479095"/>
          </a:xfrm>
        </p:spPr>
      </p:pic>
      <p:pic>
        <p:nvPicPr>
          <p:cNvPr id="837" name="Picture 836" descr="A close-up of a grey and black sign&#10;&#10;Description automatically generated">
            <a:extLst>
              <a:ext uri="{FF2B5EF4-FFF2-40B4-BE49-F238E27FC236}">
                <a16:creationId xmlns:a16="http://schemas.microsoft.com/office/drawing/2014/main" id="{9B0E69C2-1B7B-754C-F8EF-19C37D200E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9429" y="1566908"/>
            <a:ext cx="8273143" cy="1614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9371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4" name="Rectangle 123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FBC8BBE5-981E-4B0B-9654-32B5668BFF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lumMod val="9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8D6FD602-3113-4FC4-982F-15099614D2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3048" y="0"/>
            <a:ext cx="7724071" cy="6858000"/>
            <a:chOff x="4464881" y="0"/>
            <a:chExt cx="7724071" cy="6858000"/>
          </a:xfrm>
        </p:grpSpPr>
        <p:pic>
          <p:nvPicPr>
            <p:cNvPr id="129" name="Picture 128">
              <a:extLst>
                <a:ext uri="{FF2B5EF4-FFF2-40B4-BE49-F238E27FC236}">
                  <a16:creationId xmlns:a16="http://schemas.microsoft.com/office/drawing/2014/main" id="{8B8C81AF-BEDB-486F-AB26-181C63BF14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2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1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3255" y="0"/>
              <a:ext cx="5115697" cy="6858000"/>
            </a:xfrm>
            <a:prstGeom prst="rect">
              <a:avLst/>
            </a:prstGeom>
          </p:spPr>
        </p:pic>
        <p:pic>
          <p:nvPicPr>
            <p:cNvPr id="130" name="Picture 129">
              <a:extLst>
                <a:ext uri="{FF2B5EF4-FFF2-40B4-BE49-F238E27FC236}">
                  <a16:creationId xmlns:a16="http://schemas.microsoft.com/office/drawing/2014/main" id="{E08D8EF1-80CA-4FAD-BD38-F379CECC36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7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5412135" y="-947254"/>
              <a:ext cx="5562598" cy="7457106"/>
            </a:xfrm>
            <a:prstGeom prst="rect">
              <a:avLst/>
            </a:prstGeom>
            <a:effectLst>
              <a:softEdge rad="0"/>
            </a:effectLst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B052148-3829-4DCB-C456-9CF5BEC93A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480" y="586992"/>
            <a:ext cx="10870720" cy="1132611"/>
          </a:xfrm>
        </p:spPr>
        <p:txBody>
          <a:bodyPr>
            <a:normAutofit/>
          </a:bodyPr>
          <a:lstStyle/>
          <a:p>
            <a:r>
              <a:rPr lang="en-US" dirty="0">
                <a:cs typeface="Sabon Next LT"/>
              </a:rPr>
              <a:t>Model Selection Criteria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1DE536-C56B-A339-9B44-965C4D10A3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60" y="5157728"/>
            <a:ext cx="10439022" cy="11252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To </a:t>
            </a:r>
            <a:r>
              <a:rPr lang="en-US" b="1" dirty="0">
                <a:ea typeface="+mn-lt"/>
                <a:cs typeface="+mn-lt"/>
              </a:rPr>
              <a:t>avoid overfitting</a:t>
            </a:r>
            <a:r>
              <a:rPr lang="en-US" dirty="0">
                <a:ea typeface="+mn-lt"/>
                <a:cs typeface="+mn-lt"/>
              </a:rPr>
              <a:t> and to </a:t>
            </a:r>
            <a:r>
              <a:rPr lang="en-US" b="1" dirty="0">
                <a:ea typeface="+mn-lt"/>
                <a:cs typeface="+mn-lt"/>
              </a:rPr>
              <a:t>maintain model simplicity</a:t>
            </a:r>
            <a:endParaRPr lang="en-US" b="1"/>
          </a:p>
        </p:txBody>
      </p:sp>
      <p:pic>
        <p:nvPicPr>
          <p:cNvPr id="120" name="Picture 119" descr="A screenshot of a computer&#10;&#10;Description automatically generated">
            <a:extLst>
              <a:ext uri="{FF2B5EF4-FFF2-40B4-BE49-F238E27FC236}">
                <a16:creationId xmlns:a16="http://schemas.microsoft.com/office/drawing/2014/main" id="{B94B0330-883C-D1A8-A5F2-5B604130F39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3409" b="11864"/>
          <a:stretch/>
        </p:blipFill>
        <p:spPr>
          <a:xfrm>
            <a:off x="1308339" y="1725622"/>
            <a:ext cx="9532189" cy="3170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48983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0BABF38A-8A0D-492E-BD20-6CF4D46B5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4"/>
          </a:xfrm>
          <a:prstGeom prst="rect">
            <a:avLst/>
          </a:prstGeom>
          <a:solidFill>
            <a:schemeClr val="bg2">
              <a:lumMod val="9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BC526B7A-4801-4FD1-95C8-03AF22629E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400" y="0"/>
            <a:ext cx="3654612" cy="4575348"/>
          </a:xfrm>
          <a:prstGeom prst="rect">
            <a:avLst/>
          </a:prstGeom>
        </p:spPr>
      </p:pic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4E7CE7A7-0AFD-439B-9765-E708254D9D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239CFBC2-8561-4BBF-BDDE-CF7908C98D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2AAC8F43-3BD7-44FC-843A-972922AF2B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4881" y="0"/>
            <a:ext cx="7724071" cy="6858000"/>
            <a:chOff x="4464881" y="0"/>
            <a:chExt cx="7724071" cy="6858000"/>
          </a:xfrm>
        </p:grpSpPr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1DE643C6-923A-4762-9462-D589A0AED5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alphaModFix amt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3255" y="0"/>
              <a:ext cx="5115697" cy="6858000"/>
            </a:xfrm>
            <a:prstGeom prst="rect">
              <a:avLst/>
            </a:prstGeom>
          </p:spPr>
        </p:pic>
        <p:pic>
          <p:nvPicPr>
            <p:cNvPr id="58" name="Picture 57">
              <a:extLst>
                <a:ext uri="{FF2B5EF4-FFF2-40B4-BE49-F238E27FC236}">
                  <a16:creationId xmlns:a16="http://schemas.microsoft.com/office/drawing/2014/main" id="{51AB708F-73DA-4CC8-89B1-8EB70ABB3A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4">
              <a:alphaModFix amt="1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5412135" y="-947254"/>
              <a:ext cx="5562598" cy="7457106"/>
            </a:xfrm>
            <a:prstGeom prst="rect">
              <a:avLst/>
            </a:prstGeom>
            <a:effectLst>
              <a:softEdge rad="0"/>
            </a:effectLst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33236E1-96AD-16CB-CAB6-1152213D87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3848" y="1295400"/>
            <a:ext cx="7010400" cy="260492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>
                <a:solidFill>
                  <a:srgbClr val="FFFFFF"/>
                </a:solidFill>
              </a:rPr>
              <a:t>Results</a:t>
            </a:r>
          </a:p>
        </p:txBody>
      </p:sp>
    </p:spTree>
    <p:extLst>
      <p:ext uri="{BB962C8B-B14F-4D97-AF65-F5344CB8AC3E}">
        <p14:creationId xmlns:p14="http://schemas.microsoft.com/office/powerpoint/2010/main" val="10174058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BABF38A-8A0D-492E-BD20-6CF4D46B5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4"/>
          </a:xfrm>
          <a:prstGeom prst="rect">
            <a:avLst/>
          </a:prstGeom>
          <a:solidFill>
            <a:schemeClr val="bg2">
              <a:lumMod val="9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C526B7A-4801-4FD1-95C8-03AF22629E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400" y="0"/>
            <a:ext cx="3654612" cy="4575348"/>
          </a:xfrm>
          <a:prstGeom prst="rect">
            <a:avLst/>
          </a:prstGeom>
        </p:spPr>
      </p:pic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DE61FBD7-E37C-4B38-BE44-A6D4978D7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92BFCFE-FD78-4EDF-BEFE-CC444DC5F3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7102190-C0A1-4788-99F6-6A2F544443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0" y="0"/>
            <a:ext cx="7724071" cy="6858000"/>
            <a:chOff x="4464881" y="0"/>
            <a:chExt cx="7724071" cy="6858000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2821F602-B65F-4D39-86B7-9ED5C17350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1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3255" y="0"/>
              <a:ext cx="5115697" cy="6858000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6A5465FF-E08C-4ECD-9AE2-1D48873ECC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4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7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5412135" y="-947254"/>
              <a:ext cx="5562598" cy="7457106"/>
            </a:xfrm>
            <a:prstGeom prst="rect">
              <a:avLst/>
            </a:prstGeom>
            <a:effectLst>
              <a:softEdge rad="0"/>
            </a:effectLst>
          </p:spPr>
        </p:pic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8B5FAB37-BB0D-41A8-A5C8-65ADE0F008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1228" y="685800"/>
            <a:ext cx="10820400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0A3ACC-91CB-B250-FC07-10A3D3644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8175" y="1278575"/>
            <a:ext cx="5196734" cy="8497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Birth Weight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63E528F-8C90-812A-8CDD-04F864E09B5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13679078"/>
              </p:ext>
            </p:extLst>
          </p:nvPr>
        </p:nvGraphicFramePr>
        <p:xfrm>
          <a:off x="6353057" y="1124160"/>
          <a:ext cx="4861387" cy="47926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5922">
                  <a:extLst>
                    <a:ext uri="{9D8B030D-6E8A-4147-A177-3AD203B41FA5}">
                      <a16:colId xmlns:a16="http://schemas.microsoft.com/office/drawing/2014/main" val="2208629993"/>
                    </a:ext>
                  </a:extLst>
                </a:gridCol>
                <a:gridCol w="1225465">
                  <a:extLst>
                    <a:ext uri="{9D8B030D-6E8A-4147-A177-3AD203B41FA5}">
                      <a16:colId xmlns:a16="http://schemas.microsoft.com/office/drawing/2014/main" val="258538143"/>
                    </a:ext>
                  </a:extLst>
                </a:gridCol>
              </a:tblGrid>
              <a:tr h="367379">
                <a:tc>
                  <a:txBody>
                    <a:bodyPr/>
                    <a:lstStyle/>
                    <a:p>
                      <a:pPr lvl="0" algn="l"/>
                      <a:r>
                        <a:rPr lang="en-US" sz="1600" dirty="0"/>
                        <a:t>Models</a:t>
                      </a:r>
                    </a:p>
                  </a:txBody>
                  <a:tcPr marL="83495" marR="83495" marT="41748" marB="41748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AIC</a:t>
                      </a:r>
                    </a:p>
                  </a:txBody>
                  <a:tcPr marL="83495" marR="83495" marT="41748" marB="41748"/>
                </a:tc>
                <a:extLst>
                  <a:ext uri="{0D108BD9-81ED-4DB2-BD59-A6C34878D82A}">
                    <a16:rowId xmlns:a16="http://schemas.microsoft.com/office/drawing/2014/main" val="115300609"/>
                  </a:ext>
                </a:extLst>
              </a:tr>
              <a:tr h="442524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noProof="0" dirty="0">
                          <a:latin typeface="Avenir Next LT Pro"/>
                        </a:rPr>
                        <a:t>No Deer Year No Density 0 </a:t>
                      </a:r>
                      <a:r>
                        <a:rPr lang="en-US" sz="1600" b="0" i="0" u="none" strike="noStrike" noProof="0" dirty="0" err="1">
                          <a:latin typeface="Avenir Next LT Pro"/>
                        </a:rPr>
                        <a:t>d.f.</a:t>
                      </a:r>
                      <a:endParaRPr lang="en-US" sz="1600" dirty="0" err="1"/>
                    </a:p>
                  </a:txBody>
                  <a:tcPr marL="83495" marR="83495" marT="41748" marB="41748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noProof="0" dirty="0">
                          <a:latin typeface="Avenir Next LT Pro"/>
                        </a:rPr>
                        <a:t>9245.0</a:t>
                      </a:r>
                      <a:endParaRPr lang="en-US" sz="1600" dirty="0"/>
                    </a:p>
                  </a:txBody>
                  <a:tcPr marL="83495" marR="83495" marT="41748" marB="41748"/>
                </a:tc>
                <a:extLst>
                  <a:ext uri="{0D108BD9-81ED-4DB2-BD59-A6C34878D82A}">
                    <a16:rowId xmlns:a16="http://schemas.microsoft.com/office/drawing/2014/main" val="2499047753"/>
                  </a:ext>
                </a:extLst>
              </a:tr>
              <a:tr h="442524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noProof="0" dirty="0">
                          <a:latin typeface="Avenir Next LT Pro"/>
                        </a:rPr>
                        <a:t>Deer Year (No Density) 1 </a:t>
                      </a:r>
                      <a:r>
                        <a:rPr lang="en-US" sz="1600" b="0" i="0" u="none" strike="noStrike" noProof="0" dirty="0" err="1">
                          <a:latin typeface="Avenir Next LT Pro"/>
                        </a:rPr>
                        <a:t>d.f.</a:t>
                      </a:r>
                      <a:endParaRPr lang="en-US" sz="1600" dirty="0" err="1"/>
                    </a:p>
                  </a:txBody>
                  <a:tcPr marL="83495" marR="83495" marT="41748" marB="41748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+1.9</a:t>
                      </a:r>
                    </a:p>
                  </a:txBody>
                  <a:tcPr marL="83495" marR="83495" marT="41748" marB="41748"/>
                </a:tc>
                <a:extLst>
                  <a:ext uri="{0D108BD9-81ED-4DB2-BD59-A6C34878D82A}">
                    <a16:rowId xmlns:a16="http://schemas.microsoft.com/office/drawing/2014/main" val="2655255163"/>
                  </a:ext>
                </a:extLst>
              </a:tr>
              <a:tr h="442524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noProof="0" dirty="0">
                          <a:latin typeface="Avenir Next LT Pro"/>
                        </a:rPr>
                        <a:t>Hinds (No Deer Year) 1 </a:t>
                      </a:r>
                      <a:r>
                        <a:rPr lang="en-US" sz="1600" b="0" i="0" u="none" strike="noStrike" noProof="0" dirty="0" err="1">
                          <a:latin typeface="Avenir Next LT Pro"/>
                        </a:rPr>
                        <a:t>d.f.</a:t>
                      </a:r>
                      <a:endParaRPr lang="en-US" sz="1600" dirty="0" err="1"/>
                    </a:p>
                  </a:txBody>
                  <a:tcPr marL="83495" marR="83495" marT="41748" marB="41748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0" i="0" u="none" strike="noStrike" noProof="0" dirty="0">
                          <a:latin typeface="Avenir Next LT Pro"/>
                        </a:rPr>
                        <a:t>-337.2</a:t>
                      </a:r>
                      <a:endParaRPr lang="en-US" sz="1600" dirty="0"/>
                    </a:p>
                  </a:txBody>
                  <a:tcPr marL="83495" marR="83495" marT="41748" marB="41748"/>
                </a:tc>
                <a:extLst>
                  <a:ext uri="{0D108BD9-81ED-4DB2-BD59-A6C34878D82A}">
                    <a16:rowId xmlns:a16="http://schemas.microsoft.com/office/drawing/2014/main" val="3317886733"/>
                  </a:ext>
                </a:extLst>
              </a:tr>
              <a:tr h="442524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noProof="0" dirty="0">
                          <a:latin typeface="Avenir Next LT Pro"/>
                        </a:rPr>
                        <a:t>Hinds + Deer Year 2 </a:t>
                      </a:r>
                      <a:r>
                        <a:rPr lang="en-US" sz="1600" b="0" i="0" u="none" strike="noStrike" noProof="0" dirty="0" err="1">
                          <a:latin typeface="Avenir Next LT Pro"/>
                        </a:rPr>
                        <a:t>d.f.</a:t>
                      </a:r>
                      <a:endParaRPr lang="en-US" sz="1600" dirty="0" err="1"/>
                    </a:p>
                  </a:txBody>
                  <a:tcPr marL="83495" marR="83495" marT="41748" marB="41748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0" i="0" u="none" strike="noStrike" noProof="0" dirty="0">
                          <a:latin typeface="Avenir Next LT Pro"/>
                        </a:rPr>
                        <a:t>-335.8</a:t>
                      </a:r>
                      <a:endParaRPr lang="en-US" sz="1600" dirty="0"/>
                    </a:p>
                  </a:txBody>
                  <a:tcPr marL="83495" marR="83495" marT="41748" marB="41748"/>
                </a:tc>
                <a:extLst>
                  <a:ext uri="{0D108BD9-81ED-4DB2-BD59-A6C34878D82A}">
                    <a16:rowId xmlns:a16="http://schemas.microsoft.com/office/drawing/2014/main" val="3400404884"/>
                  </a:ext>
                </a:extLst>
              </a:tr>
              <a:tr h="442524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noProof="0" dirty="0">
                          <a:latin typeface="Avenir Next LT Pro"/>
                        </a:rPr>
                        <a:t>Adults (No Deer Year) 1 </a:t>
                      </a:r>
                      <a:r>
                        <a:rPr lang="en-US" sz="1600" b="0" i="0" u="none" strike="noStrike" noProof="0" dirty="0" err="1">
                          <a:latin typeface="Avenir Next LT Pro"/>
                        </a:rPr>
                        <a:t>d.f.</a:t>
                      </a:r>
                      <a:endParaRPr lang="en-US" sz="1600" dirty="0"/>
                    </a:p>
                  </a:txBody>
                  <a:tcPr marL="83495" marR="83495" marT="41748" marB="41748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0" i="0" u="none" strike="noStrike" noProof="0" dirty="0">
                          <a:latin typeface="Avenir Next LT Pro"/>
                        </a:rPr>
                        <a:t>-337.3 ***</a:t>
                      </a:r>
                      <a:endParaRPr lang="en-US" sz="1600" dirty="0"/>
                    </a:p>
                  </a:txBody>
                  <a:tcPr marL="83495" marR="83495" marT="41748" marB="41748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385146"/>
                  </a:ext>
                </a:extLst>
              </a:tr>
              <a:tr h="442524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noProof="0" dirty="0">
                          <a:latin typeface="Avenir Next LT Pro"/>
                        </a:rPr>
                        <a:t>Adults + Deer Year 2 </a:t>
                      </a:r>
                      <a:r>
                        <a:rPr lang="en-US" sz="1600" b="0" i="0" u="none" strike="noStrike" noProof="0" dirty="0" err="1">
                          <a:latin typeface="Avenir Next LT Pro"/>
                        </a:rPr>
                        <a:t>d.f.</a:t>
                      </a:r>
                      <a:endParaRPr lang="en-US" sz="1600" dirty="0"/>
                    </a:p>
                  </a:txBody>
                  <a:tcPr marL="83495" marR="83495" marT="41748" marB="41748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0" i="0" u="none" strike="noStrike" noProof="0" dirty="0">
                          <a:latin typeface="Avenir Next LT Pro"/>
                        </a:rPr>
                        <a:t>-335.3</a:t>
                      </a:r>
                      <a:endParaRPr lang="en-US" sz="1600" dirty="0"/>
                    </a:p>
                  </a:txBody>
                  <a:tcPr marL="83495" marR="83495" marT="41748" marB="41748"/>
                </a:tc>
                <a:extLst>
                  <a:ext uri="{0D108BD9-81ED-4DB2-BD59-A6C34878D82A}">
                    <a16:rowId xmlns:a16="http://schemas.microsoft.com/office/drawing/2014/main" val="641143631"/>
                  </a:ext>
                </a:extLst>
              </a:tr>
              <a:tr h="442524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noProof="0" dirty="0">
                          <a:latin typeface="Avenir Next LT Pro"/>
                        </a:rPr>
                        <a:t>Total (No Deer Year) 1 </a:t>
                      </a:r>
                      <a:r>
                        <a:rPr lang="en-US" sz="1600" b="0" i="0" u="none" strike="noStrike" noProof="0" dirty="0" err="1">
                          <a:latin typeface="Avenir Next LT Pro"/>
                        </a:rPr>
                        <a:t>d.f.</a:t>
                      </a:r>
                      <a:endParaRPr lang="en-US" sz="1600" dirty="0"/>
                    </a:p>
                  </a:txBody>
                  <a:tcPr marL="83495" marR="83495" marT="41748" marB="41748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0" i="0" u="none" strike="noStrike" noProof="0" dirty="0">
                          <a:latin typeface="Avenir Next LT Pro"/>
                        </a:rPr>
                        <a:t>-337.1</a:t>
                      </a:r>
                      <a:endParaRPr lang="en-US" sz="1600" dirty="0"/>
                    </a:p>
                  </a:txBody>
                  <a:tcPr marL="83495" marR="83495" marT="41748" marB="41748"/>
                </a:tc>
                <a:extLst>
                  <a:ext uri="{0D108BD9-81ED-4DB2-BD59-A6C34878D82A}">
                    <a16:rowId xmlns:a16="http://schemas.microsoft.com/office/drawing/2014/main" val="3773169334"/>
                  </a:ext>
                </a:extLst>
              </a:tr>
              <a:tr h="442524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noProof="0" dirty="0">
                          <a:latin typeface="Avenir Next LT Pro"/>
                        </a:rPr>
                        <a:t>Total + Deer Year 2 </a:t>
                      </a:r>
                      <a:r>
                        <a:rPr lang="en-US" sz="1600" b="0" i="0" u="none" strike="noStrike" noProof="0" dirty="0" err="1">
                          <a:latin typeface="Avenir Next LT Pro"/>
                        </a:rPr>
                        <a:t>d.f.</a:t>
                      </a:r>
                      <a:endParaRPr lang="en-US" sz="1600" dirty="0"/>
                    </a:p>
                  </a:txBody>
                  <a:tcPr marL="83495" marR="83495" marT="41748" marB="41748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0" i="0" u="none" strike="noStrike" noProof="0" dirty="0">
                          <a:latin typeface="Avenir Next LT Pro"/>
                        </a:rPr>
                        <a:t>-335.2</a:t>
                      </a:r>
                      <a:endParaRPr lang="en-US" sz="1600" dirty="0"/>
                    </a:p>
                  </a:txBody>
                  <a:tcPr marL="83495" marR="83495" marT="41748" marB="41748"/>
                </a:tc>
                <a:extLst>
                  <a:ext uri="{0D108BD9-81ED-4DB2-BD59-A6C34878D82A}">
                    <a16:rowId xmlns:a16="http://schemas.microsoft.com/office/drawing/2014/main" val="354424491"/>
                  </a:ext>
                </a:extLst>
              </a:tr>
              <a:tr h="442524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noProof="0" dirty="0">
                          <a:latin typeface="Avenir Next LT Pro"/>
                        </a:rPr>
                        <a:t>Livestock Units (No Deer Year) 1 </a:t>
                      </a:r>
                      <a:r>
                        <a:rPr lang="en-US" sz="1600" b="0" i="0" u="none" strike="noStrike" noProof="0" dirty="0" err="1">
                          <a:latin typeface="Avenir Next LT Pro"/>
                        </a:rPr>
                        <a:t>d.f.</a:t>
                      </a:r>
                      <a:endParaRPr lang="en-US" sz="1600" dirty="0"/>
                    </a:p>
                  </a:txBody>
                  <a:tcPr marL="83495" marR="83495" marT="41748" marB="41748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0" i="0" u="none" strike="noStrike" noProof="0" dirty="0">
                          <a:latin typeface="Avenir Next LT Pro"/>
                        </a:rPr>
                        <a:t>-337.2</a:t>
                      </a:r>
                      <a:endParaRPr lang="en-US" sz="1600" dirty="0"/>
                    </a:p>
                  </a:txBody>
                  <a:tcPr marL="83495" marR="83495" marT="41748" marB="41748"/>
                </a:tc>
                <a:extLst>
                  <a:ext uri="{0D108BD9-81ED-4DB2-BD59-A6C34878D82A}">
                    <a16:rowId xmlns:a16="http://schemas.microsoft.com/office/drawing/2014/main" val="2954033080"/>
                  </a:ext>
                </a:extLst>
              </a:tr>
              <a:tr h="442524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noProof="0" dirty="0">
                          <a:latin typeface="Avenir Next LT Pro"/>
                        </a:rPr>
                        <a:t>Livestock Units + Deer Year 2 </a:t>
                      </a:r>
                      <a:r>
                        <a:rPr lang="en-US" sz="1600" b="0" i="0" u="none" strike="noStrike" noProof="0" dirty="0" err="1">
                          <a:latin typeface="Avenir Next LT Pro"/>
                        </a:rPr>
                        <a:t>d.f.</a:t>
                      </a:r>
                      <a:endParaRPr lang="en-US" sz="1600" dirty="0"/>
                    </a:p>
                  </a:txBody>
                  <a:tcPr marL="83495" marR="83495" marT="41748" marB="41748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0" i="0" u="none" strike="noStrike" noProof="0" dirty="0">
                          <a:latin typeface="Avenir Next LT Pro"/>
                        </a:rPr>
                        <a:t>-335.2</a:t>
                      </a:r>
                      <a:endParaRPr lang="en-US" sz="1600" dirty="0"/>
                    </a:p>
                  </a:txBody>
                  <a:tcPr marL="83495" marR="83495" marT="41748" marB="41748"/>
                </a:tc>
                <a:extLst>
                  <a:ext uri="{0D108BD9-81ED-4DB2-BD59-A6C34878D82A}">
                    <a16:rowId xmlns:a16="http://schemas.microsoft.com/office/drawing/2014/main" val="1877217521"/>
                  </a:ext>
                </a:extLst>
              </a:tr>
            </a:tbl>
          </a:graphicData>
        </a:graphic>
      </p:graphicFrame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4AEF2CD-261B-131D-B98B-56E81C0121AB}"/>
              </a:ext>
            </a:extLst>
          </p:cNvPr>
          <p:cNvSpPr txBox="1">
            <a:spLocks/>
          </p:cNvSpPr>
          <p:nvPr/>
        </p:nvSpPr>
        <p:spPr>
          <a:xfrm>
            <a:off x="1220694" y="2353323"/>
            <a:ext cx="4635975" cy="331830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>
                <a:solidFill>
                  <a:srgbClr val="404040"/>
                </a:solidFill>
                <a:ea typeface="+mn-lt"/>
                <a:cs typeface="+mn-lt"/>
              </a:rPr>
              <a:t>(n=3,082) </a:t>
            </a:r>
            <a:endParaRPr lang="en-US" sz="2400" b="1">
              <a:solidFill>
                <a:srgbClr val="000000"/>
              </a:solidFill>
              <a:latin typeface="Avenir Next LT Pro"/>
              <a:ea typeface="+mn-lt"/>
              <a:cs typeface="Arial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b="1" dirty="0">
              <a:solidFill>
                <a:srgbClr val="404040"/>
              </a:solidFill>
              <a:latin typeface="Avenir Next LT Pro"/>
              <a:ea typeface="+mn-lt"/>
              <a:cs typeface="Arial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b="1" dirty="0">
                <a:solidFill>
                  <a:srgbClr val="404040"/>
                </a:solidFill>
                <a:latin typeface="Avenir Next LT Pro"/>
                <a:ea typeface="+mn-lt"/>
                <a:cs typeface="Arial"/>
              </a:rPr>
              <a:t>Best Model:</a:t>
            </a:r>
            <a:endParaRPr lang="en-US" sz="2400" b="1" dirty="0">
              <a:latin typeface="Avenir Next LT Pro"/>
              <a:ea typeface="+mn-lt"/>
              <a:cs typeface="Arial"/>
            </a:endParaRP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buFont typeface="Arial,Sans-Serif" panose="020B0604020202020204" pitchFamily="34" charset="0"/>
            </a:pPr>
            <a:r>
              <a:rPr lang="en-US" sz="2400" dirty="0">
                <a:solidFill>
                  <a:srgbClr val="404040"/>
                </a:solidFill>
                <a:latin typeface="Avenir Next LT Pro"/>
                <a:ea typeface="+mn-lt"/>
                <a:cs typeface="Arial"/>
              </a:rPr>
              <a:t>Adult Density </a:t>
            </a:r>
            <a:endParaRPr lang="en-US" sz="2400" dirty="0">
              <a:latin typeface="Avenir Next LT Pro"/>
              <a:ea typeface="+mn-lt"/>
              <a:cs typeface="Arial"/>
            </a:endParaRP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buFont typeface="Arial,Sans-Serif" panose="020B0604020202020204" pitchFamily="34" charset="0"/>
            </a:pPr>
            <a:r>
              <a:rPr lang="en-US" sz="2400" dirty="0">
                <a:solidFill>
                  <a:srgbClr val="404040"/>
                </a:solidFill>
                <a:latin typeface="Avenir Next LT Pro"/>
                <a:ea typeface="+mn-lt"/>
                <a:cs typeface="Arial"/>
              </a:rPr>
              <a:t>Without Deer Year</a:t>
            </a:r>
            <a:endParaRPr lang="en-US" sz="2400">
              <a:solidFill>
                <a:srgbClr val="000000"/>
              </a:solidFill>
              <a:latin typeface="Avenir Next LT Pro"/>
              <a:ea typeface="+mn-lt"/>
              <a:cs typeface="Arial"/>
            </a:endParaRP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buFont typeface="Arial,Sans-Serif" panose="020B0604020202020204" pitchFamily="34" charset="0"/>
            </a:pPr>
            <a:r>
              <a:rPr lang="en-US" sz="2400" dirty="0">
                <a:solidFill>
                  <a:srgbClr val="404040"/>
                </a:solidFill>
                <a:latin typeface="Avenir Next LT Pro"/>
                <a:ea typeface="+mn-lt"/>
                <a:cs typeface="Arial"/>
              </a:rPr>
              <a:t>AIC: 8907.7</a:t>
            </a:r>
            <a:endParaRPr lang="en-US" sz="2400" dirty="0">
              <a:latin typeface="Avenir Next LT Pro"/>
              <a:ea typeface="+mn-lt"/>
              <a:cs typeface="Arial"/>
            </a:endParaRP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buFont typeface="Arial,Sans-Serif" panose="020B0604020202020204" pitchFamily="34" charset="0"/>
            </a:pPr>
            <a:endParaRPr lang="en-US" sz="2400" dirty="0">
              <a:latin typeface="Avenir Next LT Pro"/>
              <a:ea typeface="+mn-lt"/>
              <a:cs typeface="Arial"/>
            </a:endParaRP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buFont typeface="Arial,Sans-Serif" panose="020B0604020202020204" pitchFamily="34" charset="0"/>
              <a:buChar char="•"/>
            </a:pPr>
            <a:r>
              <a:rPr lang="en-US" sz="2400" dirty="0">
                <a:solidFill>
                  <a:srgbClr val="404040"/>
                </a:solidFill>
                <a:latin typeface="Avenir Next LT Pro"/>
                <a:ea typeface="+mn-lt"/>
                <a:cs typeface="Arial"/>
              </a:rPr>
              <a:t>Density Effect Size: </a:t>
            </a:r>
            <a:endParaRPr lang="en-US" sz="2400" dirty="0">
              <a:latin typeface="Avenir Next LT Pro"/>
              <a:ea typeface="+mn-lt"/>
              <a:cs typeface="Arial"/>
            </a:endParaRP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buFont typeface="Arial,Sans-Serif" panose="020B0604020202020204" pitchFamily="34" charset="0"/>
            </a:pPr>
            <a:r>
              <a:rPr lang="en-US" sz="2400" dirty="0">
                <a:solidFill>
                  <a:srgbClr val="404040"/>
                </a:solidFill>
                <a:latin typeface="Avenir Next LT Pro"/>
                <a:ea typeface="+mn-lt"/>
                <a:cs typeface="Arial"/>
              </a:rPr>
              <a:t>-0.000823 (p = 0.544)</a:t>
            </a:r>
            <a:endParaRPr lang="en-US" sz="2400" dirty="0">
              <a:latin typeface="Avenir Next LT Pro"/>
              <a:ea typeface="+mn-lt"/>
              <a:cs typeface="Arial"/>
            </a:endParaRPr>
          </a:p>
          <a:p>
            <a:endParaRPr lang="en-US" sz="2400" dirty="0">
              <a:solidFill>
                <a:srgbClr val="000000"/>
              </a:solidFill>
              <a:cs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B31A9F-F85C-A2CC-6A7B-37A3A4953AB2}"/>
              </a:ext>
            </a:extLst>
          </p:cNvPr>
          <p:cNvSpPr txBox="1"/>
          <p:nvPr/>
        </p:nvSpPr>
        <p:spPr>
          <a:xfrm>
            <a:off x="741872" y="713117"/>
            <a:ext cx="10823274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glmmTMB(BirthWt~Adults +Sex +DaysFrom1May +MumAge +MumAgeSquared +MotherStatus +(1|DeerYear) +(1|MumCode), family = gaussian())</a:t>
            </a:r>
          </a:p>
        </p:txBody>
      </p:sp>
    </p:spTree>
    <p:extLst>
      <p:ext uri="{BB962C8B-B14F-4D97-AF65-F5344CB8AC3E}">
        <p14:creationId xmlns:p14="http://schemas.microsoft.com/office/powerpoint/2010/main" val="235216733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B308828-4749-4D6D-9CEA-433D2BD27E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0" y="0"/>
            <a:ext cx="7724071" cy="6858000"/>
            <a:chOff x="4464881" y="0"/>
            <a:chExt cx="7724071" cy="6858000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FA43358F-8AF6-45AF-B1D4-3EA84DDE72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2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1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3255" y="0"/>
              <a:ext cx="5115697" cy="6858000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33B887FE-73E4-4849-9FF5-BEBA04068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7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5412135" y="-947254"/>
              <a:ext cx="5562598" cy="7457106"/>
            </a:xfrm>
            <a:prstGeom prst="rect">
              <a:avLst/>
            </a:prstGeom>
            <a:effectLst>
              <a:softEdge rad="0"/>
            </a:effectLst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24590D4-0057-C65C-7859-9EE7F7695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1066800"/>
            <a:ext cx="5410200" cy="1997075"/>
          </a:xfrm>
        </p:spPr>
        <p:txBody>
          <a:bodyPr>
            <a:normAutofit/>
          </a:bodyPr>
          <a:lstStyle/>
          <a:p>
            <a:endParaRPr lang="en-US" sz="3600">
              <a:cs typeface="Sabon Next LT"/>
            </a:endParaRPr>
          </a:p>
        </p:txBody>
      </p:sp>
      <p:pic>
        <p:nvPicPr>
          <p:cNvPr id="3" name="Content Placeholder 2" descr="A screenshot of a table&#10;&#10;Description automatically generated">
            <a:extLst>
              <a:ext uri="{FF2B5EF4-FFF2-40B4-BE49-F238E27FC236}">
                <a16:creationId xmlns:a16="http://schemas.microsoft.com/office/drawing/2014/main" id="{B458B4D8-0CEA-F115-33C9-44F1CD4EA9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78348" y="-1732"/>
            <a:ext cx="4565392" cy="6897398"/>
          </a:xfrm>
        </p:spPr>
      </p:pic>
      <p:pic>
        <p:nvPicPr>
          <p:cNvPr id="7" name="Content Placeholder 6" descr="A graph with numbers and lines&#10;&#10;Description automatically generated">
            <a:extLst>
              <a:ext uri="{FF2B5EF4-FFF2-40B4-BE49-F238E27FC236}">
                <a16:creationId xmlns:a16="http://schemas.microsoft.com/office/drawing/2014/main" id="{8E112D35-57BF-1BA6-7EE7-5742F033AC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3877" y="5036"/>
            <a:ext cx="7473903" cy="687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18895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BABF38A-8A0D-492E-BD20-6CF4D46B5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4"/>
          </a:xfrm>
          <a:prstGeom prst="rect">
            <a:avLst/>
          </a:prstGeom>
          <a:solidFill>
            <a:schemeClr val="bg2">
              <a:lumMod val="9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C526B7A-4801-4FD1-95C8-03AF22629E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400" y="0"/>
            <a:ext cx="3654612" cy="4575348"/>
          </a:xfrm>
          <a:prstGeom prst="rect">
            <a:avLst/>
          </a:prstGeom>
        </p:spPr>
      </p:pic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DE61FBD7-E37C-4B38-BE44-A6D4978D7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92BFCFE-FD78-4EDF-BEFE-CC444DC5F3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7102190-C0A1-4788-99F6-6A2F544443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0" y="0"/>
            <a:ext cx="7724071" cy="6858000"/>
            <a:chOff x="4464881" y="0"/>
            <a:chExt cx="7724071" cy="6858000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2821F602-B65F-4D39-86B7-9ED5C17350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1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3255" y="0"/>
              <a:ext cx="5115697" cy="6858000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6A5465FF-E08C-4ECD-9AE2-1D48873ECC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4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7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5412135" y="-947254"/>
              <a:ext cx="5562598" cy="7457106"/>
            </a:xfrm>
            <a:prstGeom prst="rect">
              <a:avLst/>
            </a:prstGeom>
            <a:effectLst>
              <a:softEdge rad="0"/>
            </a:effectLst>
          </p:spPr>
        </p:pic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8B5FAB37-BB0D-41A8-A5C8-65ADE0F008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1228" y="685800"/>
            <a:ext cx="10820400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0A3ACC-91CB-B250-FC07-10A3D3644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2456" y="1266669"/>
            <a:ext cx="5196734" cy="8497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First Winter Survival</a:t>
            </a:r>
            <a:endParaRPr lang="en-US" dirty="0">
              <a:cs typeface="Sabon Next LT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63E528F-8C90-812A-8CDD-04F864E09B5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21274688"/>
              </p:ext>
            </p:extLst>
          </p:nvPr>
        </p:nvGraphicFramePr>
        <p:xfrm>
          <a:off x="6381812" y="1152915"/>
          <a:ext cx="4861387" cy="47926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5922">
                  <a:extLst>
                    <a:ext uri="{9D8B030D-6E8A-4147-A177-3AD203B41FA5}">
                      <a16:colId xmlns:a16="http://schemas.microsoft.com/office/drawing/2014/main" val="2208629993"/>
                    </a:ext>
                  </a:extLst>
                </a:gridCol>
                <a:gridCol w="1225465">
                  <a:extLst>
                    <a:ext uri="{9D8B030D-6E8A-4147-A177-3AD203B41FA5}">
                      <a16:colId xmlns:a16="http://schemas.microsoft.com/office/drawing/2014/main" val="258538143"/>
                    </a:ext>
                  </a:extLst>
                </a:gridCol>
              </a:tblGrid>
              <a:tr h="367379">
                <a:tc>
                  <a:txBody>
                    <a:bodyPr/>
                    <a:lstStyle/>
                    <a:p>
                      <a:pPr lvl="0" algn="l"/>
                      <a:r>
                        <a:rPr lang="en-US" sz="1600" dirty="0"/>
                        <a:t>Models</a:t>
                      </a:r>
                    </a:p>
                  </a:txBody>
                  <a:tcPr marL="83495" marR="83495" marT="41748" marB="41748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AIC</a:t>
                      </a:r>
                    </a:p>
                  </a:txBody>
                  <a:tcPr marL="83495" marR="83495" marT="41748" marB="41748"/>
                </a:tc>
                <a:extLst>
                  <a:ext uri="{0D108BD9-81ED-4DB2-BD59-A6C34878D82A}">
                    <a16:rowId xmlns:a16="http://schemas.microsoft.com/office/drawing/2014/main" val="115300609"/>
                  </a:ext>
                </a:extLst>
              </a:tr>
              <a:tr h="442524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noProof="0" dirty="0">
                          <a:latin typeface="Avenir Next LT Pro"/>
                        </a:rPr>
                        <a:t>No Deer Year No Density 0 </a:t>
                      </a:r>
                      <a:r>
                        <a:rPr lang="en-US" sz="1600" b="0" i="0" u="none" strike="noStrike" noProof="0" dirty="0" err="1">
                          <a:latin typeface="Avenir Next LT Pro"/>
                        </a:rPr>
                        <a:t>d.f.</a:t>
                      </a:r>
                      <a:endParaRPr lang="en-US" sz="1600" dirty="0" err="1"/>
                    </a:p>
                  </a:txBody>
                  <a:tcPr marL="83495" marR="83495" marT="41748" marB="41748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noProof="0" dirty="0"/>
                        <a:t>2372.6   </a:t>
                      </a:r>
                      <a:endParaRPr lang="en-US" dirty="0"/>
                    </a:p>
                  </a:txBody>
                  <a:tcPr marL="83495" marR="83495" marT="41748" marB="41748"/>
                </a:tc>
                <a:extLst>
                  <a:ext uri="{0D108BD9-81ED-4DB2-BD59-A6C34878D82A}">
                    <a16:rowId xmlns:a16="http://schemas.microsoft.com/office/drawing/2014/main" val="2499047753"/>
                  </a:ext>
                </a:extLst>
              </a:tr>
              <a:tr h="442524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noProof="0" dirty="0">
                          <a:latin typeface="Avenir Next LT Pro"/>
                        </a:rPr>
                        <a:t>Deer Year (No Density) 1 </a:t>
                      </a:r>
                      <a:r>
                        <a:rPr lang="en-US" sz="1600" b="0" i="0" u="none" strike="noStrike" noProof="0" dirty="0" err="1">
                          <a:latin typeface="Avenir Next LT Pro"/>
                        </a:rPr>
                        <a:t>d.f.</a:t>
                      </a:r>
                      <a:endParaRPr lang="en-US" sz="1600" dirty="0" err="1"/>
                    </a:p>
                  </a:txBody>
                  <a:tcPr marL="83495" marR="83495" marT="41748" marB="41748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+0</a:t>
                      </a:r>
                    </a:p>
                  </a:txBody>
                  <a:tcPr marL="83495" marR="83495" marT="41748" marB="41748"/>
                </a:tc>
                <a:extLst>
                  <a:ext uri="{0D108BD9-81ED-4DB2-BD59-A6C34878D82A}">
                    <a16:rowId xmlns:a16="http://schemas.microsoft.com/office/drawing/2014/main" val="2655255163"/>
                  </a:ext>
                </a:extLst>
              </a:tr>
              <a:tr h="442524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noProof="0" dirty="0">
                          <a:latin typeface="Avenir Next LT Pro"/>
                        </a:rPr>
                        <a:t>Hinds (No Deer Year) 1 </a:t>
                      </a:r>
                      <a:r>
                        <a:rPr lang="en-US" sz="1600" b="0" i="0" u="none" strike="noStrike" noProof="0" dirty="0" err="1">
                          <a:latin typeface="Avenir Next LT Pro"/>
                        </a:rPr>
                        <a:t>d.f.</a:t>
                      </a:r>
                      <a:endParaRPr lang="en-US" sz="1600" dirty="0" err="1"/>
                    </a:p>
                  </a:txBody>
                  <a:tcPr marL="83495" marR="83495" marT="41748" marB="41748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noProof="0" dirty="0"/>
                        <a:t>-2.7 ***  </a:t>
                      </a:r>
                      <a:endParaRPr lang="en-US" dirty="0"/>
                    </a:p>
                  </a:txBody>
                  <a:tcPr marL="83495" marR="83495" marT="41748" marB="41748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7886733"/>
                  </a:ext>
                </a:extLst>
              </a:tr>
              <a:tr h="442524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noProof="0" dirty="0">
                          <a:latin typeface="Avenir Next LT Pro"/>
                        </a:rPr>
                        <a:t>Hinds + Deer Year 2 </a:t>
                      </a:r>
                      <a:r>
                        <a:rPr lang="en-US" sz="1600" b="0" i="0" u="none" strike="noStrike" noProof="0" dirty="0" err="1">
                          <a:latin typeface="Avenir Next LT Pro"/>
                        </a:rPr>
                        <a:t>d.f.</a:t>
                      </a:r>
                      <a:endParaRPr lang="en-US" sz="1600" dirty="0" err="1"/>
                    </a:p>
                  </a:txBody>
                  <a:tcPr marL="83495" marR="83495" marT="41748" marB="41748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0" i="0" u="none" strike="noStrike" noProof="0" dirty="0"/>
                        <a:t>-0.8</a:t>
                      </a:r>
                      <a:endParaRPr lang="en-US" dirty="0"/>
                    </a:p>
                  </a:txBody>
                  <a:tcPr marL="83495" marR="83495" marT="41748" marB="41748"/>
                </a:tc>
                <a:extLst>
                  <a:ext uri="{0D108BD9-81ED-4DB2-BD59-A6C34878D82A}">
                    <a16:rowId xmlns:a16="http://schemas.microsoft.com/office/drawing/2014/main" val="3400404884"/>
                  </a:ext>
                </a:extLst>
              </a:tr>
              <a:tr h="442524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noProof="0" dirty="0">
                          <a:latin typeface="Avenir Next LT Pro"/>
                        </a:rPr>
                        <a:t>Adults (No Deer Year) 1 </a:t>
                      </a:r>
                      <a:r>
                        <a:rPr lang="en-US" sz="1600" b="0" i="0" u="none" strike="noStrike" noProof="0" dirty="0" err="1">
                          <a:latin typeface="Avenir Next LT Pro"/>
                        </a:rPr>
                        <a:t>d.f.</a:t>
                      </a:r>
                      <a:endParaRPr lang="en-US" sz="1600" dirty="0"/>
                    </a:p>
                  </a:txBody>
                  <a:tcPr marL="83495" marR="83495" marT="41748" marB="41748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0" i="0" u="none" strike="noStrike" noProof="0" dirty="0">
                          <a:latin typeface="Avenir Next LT Pro"/>
                        </a:rPr>
                        <a:t>+1.4</a:t>
                      </a:r>
                    </a:p>
                  </a:txBody>
                  <a:tcPr marL="83495" marR="83495" marT="41748" marB="41748"/>
                </a:tc>
                <a:extLst>
                  <a:ext uri="{0D108BD9-81ED-4DB2-BD59-A6C34878D82A}">
                    <a16:rowId xmlns:a16="http://schemas.microsoft.com/office/drawing/2014/main" val="101385146"/>
                  </a:ext>
                </a:extLst>
              </a:tr>
              <a:tr h="442524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noProof="0" dirty="0">
                          <a:latin typeface="Avenir Next LT Pro"/>
                        </a:rPr>
                        <a:t>Adults + Deer Year 2 </a:t>
                      </a:r>
                      <a:r>
                        <a:rPr lang="en-US" sz="1600" b="0" i="0" u="none" strike="noStrike" noProof="0" dirty="0" err="1">
                          <a:latin typeface="Avenir Next LT Pro"/>
                        </a:rPr>
                        <a:t>d.f.</a:t>
                      </a:r>
                      <a:endParaRPr lang="en-US" sz="1600" dirty="0"/>
                    </a:p>
                  </a:txBody>
                  <a:tcPr marL="83495" marR="83495" marT="41748" marB="41748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0" i="0" u="none" strike="noStrike" noProof="0" dirty="0">
                          <a:latin typeface="Avenir Next LT Pro"/>
                        </a:rPr>
                        <a:t>-1.4</a:t>
                      </a:r>
                    </a:p>
                  </a:txBody>
                  <a:tcPr marL="83495" marR="83495" marT="41748" marB="41748"/>
                </a:tc>
                <a:extLst>
                  <a:ext uri="{0D108BD9-81ED-4DB2-BD59-A6C34878D82A}">
                    <a16:rowId xmlns:a16="http://schemas.microsoft.com/office/drawing/2014/main" val="641143631"/>
                  </a:ext>
                </a:extLst>
              </a:tr>
              <a:tr h="442524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noProof="0" dirty="0">
                          <a:latin typeface="Avenir Next LT Pro"/>
                        </a:rPr>
                        <a:t>Total (No Deer Year) 1 </a:t>
                      </a:r>
                      <a:r>
                        <a:rPr lang="en-US" sz="1600" b="0" i="0" u="none" strike="noStrike" noProof="0" dirty="0" err="1">
                          <a:latin typeface="Avenir Next LT Pro"/>
                        </a:rPr>
                        <a:t>d.f.</a:t>
                      </a:r>
                      <a:endParaRPr lang="en-US" sz="1600" dirty="0"/>
                    </a:p>
                  </a:txBody>
                  <a:tcPr marL="83495" marR="83495" marT="41748" marB="41748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0" i="0" u="none" strike="noStrike" noProof="0" dirty="0">
                          <a:latin typeface="Avenir Next LT Pro"/>
                        </a:rPr>
                        <a:t>+1.8</a:t>
                      </a:r>
                    </a:p>
                  </a:txBody>
                  <a:tcPr marL="83495" marR="83495" marT="41748" marB="41748"/>
                </a:tc>
                <a:extLst>
                  <a:ext uri="{0D108BD9-81ED-4DB2-BD59-A6C34878D82A}">
                    <a16:rowId xmlns:a16="http://schemas.microsoft.com/office/drawing/2014/main" val="3773169334"/>
                  </a:ext>
                </a:extLst>
              </a:tr>
              <a:tr h="442524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noProof="0" dirty="0">
                          <a:latin typeface="Avenir Next LT Pro"/>
                        </a:rPr>
                        <a:t>Total + Deer Year 2 </a:t>
                      </a:r>
                      <a:r>
                        <a:rPr lang="en-US" sz="1600" b="0" i="0" u="none" strike="noStrike" noProof="0" dirty="0" err="1">
                          <a:latin typeface="Avenir Next LT Pro"/>
                        </a:rPr>
                        <a:t>d.f.</a:t>
                      </a:r>
                      <a:endParaRPr lang="en-US" sz="1600" dirty="0"/>
                    </a:p>
                  </a:txBody>
                  <a:tcPr marL="83495" marR="83495" marT="41748" marB="41748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0" i="0" u="none" strike="noStrike" noProof="0" dirty="0">
                          <a:latin typeface="Avenir Next LT Pro"/>
                        </a:rPr>
                        <a:t>+0.9</a:t>
                      </a:r>
                    </a:p>
                  </a:txBody>
                  <a:tcPr marL="83495" marR="83495" marT="41748" marB="41748"/>
                </a:tc>
                <a:extLst>
                  <a:ext uri="{0D108BD9-81ED-4DB2-BD59-A6C34878D82A}">
                    <a16:rowId xmlns:a16="http://schemas.microsoft.com/office/drawing/2014/main" val="354424491"/>
                  </a:ext>
                </a:extLst>
              </a:tr>
              <a:tr h="442524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noProof="0" dirty="0">
                          <a:latin typeface="Avenir Next LT Pro"/>
                        </a:rPr>
                        <a:t>Livestock Units (No Deer Year) 1 </a:t>
                      </a:r>
                      <a:r>
                        <a:rPr lang="en-US" sz="1600" b="0" i="0" u="none" strike="noStrike" noProof="0" dirty="0" err="1">
                          <a:latin typeface="Avenir Next LT Pro"/>
                        </a:rPr>
                        <a:t>d.f.</a:t>
                      </a:r>
                      <a:endParaRPr lang="en-US" sz="1600" dirty="0"/>
                    </a:p>
                  </a:txBody>
                  <a:tcPr marL="83495" marR="83495" marT="41748" marB="41748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0" i="0" u="none" strike="noStrike" noProof="0" dirty="0">
                          <a:latin typeface="Avenir Next LT Pro"/>
                        </a:rPr>
                        <a:t>+2.0</a:t>
                      </a:r>
                    </a:p>
                  </a:txBody>
                  <a:tcPr marL="83495" marR="83495" marT="41748" marB="41748"/>
                </a:tc>
                <a:extLst>
                  <a:ext uri="{0D108BD9-81ED-4DB2-BD59-A6C34878D82A}">
                    <a16:rowId xmlns:a16="http://schemas.microsoft.com/office/drawing/2014/main" val="2954033080"/>
                  </a:ext>
                </a:extLst>
              </a:tr>
              <a:tr h="442524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noProof="0" dirty="0">
                          <a:latin typeface="Avenir Next LT Pro"/>
                        </a:rPr>
                        <a:t>Livestock Units + Deer Year 2 </a:t>
                      </a:r>
                      <a:r>
                        <a:rPr lang="en-US" sz="1600" b="0" i="0" u="none" strike="noStrike" noProof="0" dirty="0" err="1">
                          <a:latin typeface="Avenir Next LT Pro"/>
                        </a:rPr>
                        <a:t>d.f.</a:t>
                      </a:r>
                      <a:endParaRPr lang="en-US" sz="1600" dirty="0"/>
                    </a:p>
                  </a:txBody>
                  <a:tcPr marL="83495" marR="83495" marT="41748" marB="41748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0" i="0" u="none" strike="noStrike" noProof="0" dirty="0">
                          <a:latin typeface="Avenir Next LT Pro"/>
                        </a:rPr>
                        <a:t>+0.2</a:t>
                      </a:r>
                    </a:p>
                  </a:txBody>
                  <a:tcPr marL="83495" marR="83495" marT="41748" marB="41748"/>
                </a:tc>
                <a:extLst>
                  <a:ext uri="{0D108BD9-81ED-4DB2-BD59-A6C34878D82A}">
                    <a16:rowId xmlns:a16="http://schemas.microsoft.com/office/drawing/2014/main" val="1877217521"/>
                  </a:ext>
                </a:extLst>
              </a:tr>
            </a:tbl>
          </a:graphicData>
        </a:graphic>
      </p:graphicFrame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4AEF2CD-261B-131D-B98B-56E81C0121AB}"/>
              </a:ext>
            </a:extLst>
          </p:cNvPr>
          <p:cNvSpPr txBox="1">
            <a:spLocks/>
          </p:cNvSpPr>
          <p:nvPr/>
        </p:nvSpPr>
        <p:spPr>
          <a:xfrm>
            <a:off x="1184975" y="2249087"/>
            <a:ext cx="4635975" cy="331830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rgbClr val="404040"/>
                </a:solidFill>
                <a:ea typeface="+mn-lt"/>
                <a:cs typeface="+mn-lt"/>
              </a:rPr>
              <a:t>(n=2,241) </a:t>
            </a:r>
            <a:endParaRPr lang="en-US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dirty="0">
              <a:solidFill>
                <a:srgbClr val="404040"/>
              </a:solidFill>
              <a:latin typeface="Avenir Next LT Pro"/>
              <a:ea typeface="+mn-lt"/>
              <a:cs typeface="Arial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b="1" dirty="0">
                <a:solidFill>
                  <a:srgbClr val="404040"/>
                </a:solidFill>
                <a:latin typeface="Avenir Next LT Pro"/>
                <a:ea typeface="+mn-lt"/>
                <a:cs typeface="Arial"/>
              </a:rPr>
              <a:t>Best Model:</a:t>
            </a:r>
            <a:endParaRPr lang="en-US" sz="2400" b="1" dirty="0">
              <a:latin typeface="Avenir Next LT Pro"/>
              <a:ea typeface="+mn-lt"/>
              <a:cs typeface="Arial"/>
            </a:endParaRP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buFont typeface="Arial,Sans-Serif" panose="020B0604020202020204" pitchFamily="34" charset="0"/>
            </a:pPr>
            <a:r>
              <a:rPr lang="en-US" sz="2400" dirty="0">
                <a:solidFill>
                  <a:srgbClr val="404040"/>
                </a:solidFill>
                <a:latin typeface="Avenir Next LT Pro"/>
                <a:ea typeface="+mn-lt"/>
                <a:cs typeface="Arial"/>
              </a:rPr>
              <a:t>Hind Density </a:t>
            </a:r>
            <a:endParaRPr lang="en-US" sz="2400" dirty="0">
              <a:latin typeface="Avenir Next LT Pro"/>
              <a:ea typeface="+mn-lt"/>
              <a:cs typeface="Arial"/>
            </a:endParaRP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buFont typeface="Arial,Sans-Serif" panose="020B0604020202020204" pitchFamily="34" charset="0"/>
            </a:pPr>
            <a:r>
              <a:rPr lang="en-US" sz="2400" dirty="0">
                <a:solidFill>
                  <a:srgbClr val="404040"/>
                </a:solidFill>
                <a:latin typeface="Avenir Next LT Pro"/>
                <a:ea typeface="+mn-lt"/>
                <a:cs typeface="Arial"/>
              </a:rPr>
              <a:t>Without Deer Year</a:t>
            </a:r>
            <a:endParaRPr lang="en-US" sz="2400">
              <a:solidFill>
                <a:srgbClr val="000000"/>
              </a:solidFill>
              <a:latin typeface="Avenir Next LT Pro"/>
              <a:ea typeface="+mn-lt"/>
              <a:cs typeface="Arial"/>
            </a:endParaRP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buFont typeface="Arial,Sans-Serif" panose="020B0604020202020204" pitchFamily="34" charset="0"/>
            </a:pPr>
            <a:r>
              <a:rPr lang="en-US" sz="2400" dirty="0">
                <a:solidFill>
                  <a:srgbClr val="404040"/>
                </a:solidFill>
                <a:latin typeface="Avenir Next LT Pro"/>
                <a:ea typeface="+mn-lt"/>
                <a:cs typeface="Arial"/>
              </a:rPr>
              <a:t>AIC: </a:t>
            </a:r>
            <a:r>
              <a:rPr lang="en-US" sz="2400" dirty="0">
                <a:solidFill>
                  <a:srgbClr val="404040"/>
                </a:solidFill>
                <a:ea typeface="+mn-lt"/>
                <a:cs typeface="+mn-lt"/>
              </a:rPr>
              <a:t>2369.9</a:t>
            </a:r>
            <a:endParaRPr lang="en-US" sz="2400" dirty="0">
              <a:latin typeface="Avenir Next LT Pro"/>
              <a:ea typeface="+mn-lt"/>
              <a:cs typeface="Arial"/>
            </a:endParaRP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buFont typeface="Arial,Sans-Serif" panose="020B0604020202020204" pitchFamily="34" charset="0"/>
            </a:pPr>
            <a:endParaRPr lang="en-US" sz="2400" dirty="0">
              <a:latin typeface="Avenir Next LT Pro"/>
              <a:ea typeface="+mn-lt"/>
              <a:cs typeface="Arial"/>
            </a:endParaRP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buFont typeface="Arial,Sans-Serif" panose="020B0604020202020204" pitchFamily="34" charset="0"/>
              <a:buChar char="•"/>
            </a:pPr>
            <a:r>
              <a:rPr lang="en-US" sz="2400" dirty="0">
                <a:solidFill>
                  <a:srgbClr val="404040"/>
                </a:solidFill>
                <a:latin typeface="Avenir Next LT Pro"/>
                <a:ea typeface="+mn-lt"/>
                <a:cs typeface="Arial"/>
              </a:rPr>
              <a:t>Density Effect Size: </a:t>
            </a:r>
            <a:endParaRPr lang="en-US" sz="2400" dirty="0">
              <a:latin typeface="Avenir Next LT Pro"/>
              <a:ea typeface="+mn-lt"/>
              <a:cs typeface="Arial"/>
            </a:endParaRP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buFont typeface="Arial,Sans-Serif" panose="020B0604020202020204" pitchFamily="34" charset="0"/>
            </a:pPr>
            <a:r>
              <a:rPr lang="en-US" sz="2400" dirty="0">
                <a:solidFill>
                  <a:srgbClr val="404040"/>
                </a:solidFill>
                <a:ea typeface="+mn-lt"/>
                <a:cs typeface="+mn-lt"/>
              </a:rPr>
              <a:t>-0.0159</a:t>
            </a:r>
            <a:r>
              <a:rPr lang="en-US" sz="2400" dirty="0">
                <a:solidFill>
                  <a:srgbClr val="404040"/>
                </a:solidFill>
                <a:latin typeface="Avenir Next LT Pro"/>
                <a:ea typeface="+mn-lt"/>
                <a:cs typeface="Arial"/>
              </a:rPr>
              <a:t> (p = </a:t>
            </a:r>
            <a:r>
              <a:rPr lang="en-US" sz="2400" dirty="0">
                <a:solidFill>
                  <a:srgbClr val="404040"/>
                </a:solidFill>
                <a:ea typeface="+mn-lt"/>
                <a:cs typeface="+mn-lt"/>
              </a:rPr>
              <a:t>0.0288</a:t>
            </a:r>
            <a:r>
              <a:rPr lang="en-US" sz="2400" dirty="0">
                <a:solidFill>
                  <a:srgbClr val="404040"/>
                </a:solidFill>
                <a:latin typeface="Avenir Next LT Pro"/>
                <a:ea typeface="+mn-lt"/>
                <a:cs typeface="Arial"/>
              </a:rPr>
              <a:t>)</a:t>
            </a:r>
            <a:endParaRPr lang="en-US" sz="2400" dirty="0">
              <a:latin typeface="Avenir Next LT Pro"/>
              <a:ea typeface="+mn-lt"/>
              <a:cs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2F5E00-761B-B364-69CD-9E7A052AAD84}"/>
              </a:ext>
            </a:extLst>
          </p:cNvPr>
          <p:cNvSpPr txBox="1"/>
          <p:nvPr/>
        </p:nvSpPr>
        <p:spPr>
          <a:xfrm>
            <a:off x="885646" y="741872"/>
            <a:ext cx="10449463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glmmTMB(FWSurvival~Adults+Sex+MotherStatus+MumAge+MumAgeSquared+BirthWt+(1|DeerYear)+(1|MumCode),family = binomial)</a:t>
            </a:r>
          </a:p>
        </p:txBody>
      </p:sp>
    </p:spTree>
    <p:extLst>
      <p:ext uri="{BB962C8B-B14F-4D97-AF65-F5344CB8AC3E}">
        <p14:creationId xmlns:p14="http://schemas.microsoft.com/office/powerpoint/2010/main" val="28479047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B308828-4749-4D6D-9CEA-433D2BD27E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0" y="0"/>
            <a:ext cx="7724071" cy="6858000"/>
            <a:chOff x="4464881" y="0"/>
            <a:chExt cx="7724071" cy="6858000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FA43358F-8AF6-45AF-B1D4-3EA84DDE72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1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3255" y="0"/>
              <a:ext cx="5115697" cy="6858000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33B887FE-73E4-4849-9FF5-BEBA04068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4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7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5412135" y="-947254"/>
              <a:ext cx="5562598" cy="7457106"/>
            </a:xfrm>
            <a:prstGeom prst="rect">
              <a:avLst/>
            </a:prstGeom>
            <a:effectLst>
              <a:softEdge rad="0"/>
            </a:effectLst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24590D4-0057-C65C-7859-9EE7F7695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1066800"/>
            <a:ext cx="5410200" cy="1997075"/>
          </a:xfrm>
        </p:spPr>
        <p:txBody>
          <a:bodyPr>
            <a:normAutofit/>
          </a:bodyPr>
          <a:lstStyle/>
          <a:p>
            <a:endParaRPr lang="en-US" sz="3600">
              <a:cs typeface="Sabon Next LT"/>
            </a:endParaRPr>
          </a:p>
        </p:txBody>
      </p:sp>
      <p:pic>
        <p:nvPicPr>
          <p:cNvPr id="3" name="Content Placeholder 2" descr="A graph with a red line and blue line&#10;&#10;Description automatically generated">
            <a:extLst>
              <a:ext uri="{FF2B5EF4-FFF2-40B4-BE49-F238E27FC236}">
                <a16:creationId xmlns:a16="http://schemas.microsoft.com/office/drawing/2014/main" id="{EFD7C1DB-DB3E-F586-258E-91BEFA928B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4847303" y="-4838"/>
            <a:ext cx="7339118" cy="6860419"/>
          </a:xfrm>
        </p:spPr>
      </p:pic>
      <p:pic>
        <p:nvPicPr>
          <p:cNvPr id="4" name="Picture 3" descr="A screenshot of a table&#10;&#10;Description automatically generated">
            <a:extLst>
              <a:ext uri="{FF2B5EF4-FFF2-40B4-BE49-F238E27FC236}">
                <a16:creationId xmlns:a16="http://schemas.microsoft.com/office/drawing/2014/main" id="{2584A5A9-B501-7267-90A1-F1D67E1E4D5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950" y="0"/>
            <a:ext cx="463238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7377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BABF38A-8A0D-492E-BD20-6CF4D46B5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4"/>
          </a:xfrm>
          <a:prstGeom prst="rect">
            <a:avLst/>
          </a:prstGeom>
          <a:solidFill>
            <a:schemeClr val="bg2">
              <a:lumMod val="9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C526B7A-4801-4FD1-95C8-03AF22629E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400" y="0"/>
            <a:ext cx="3654612" cy="4575348"/>
          </a:xfrm>
          <a:prstGeom prst="rect">
            <a:avLst/>
          </a:prstGeom>
        </p:spPr>
      </p:pic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DE61FBD7-E37C-4B38-BE44-A6D4978D7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92BFCFE-FD78-4EDF-BEFE-CC444DC5F3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7102190-C0A1-4788-99F6-6A2F544443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0" y="0"/>
            <a:ext cx="7724071" cy="6858000"/>
            <a:chOff x="4464881" y="0"/>
            <a:chExt cx="7724071" cy="6858000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2821F602-B65F-4D39-86B7-9ED5C17350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1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3255" y="0"/>
              <a:ext cx="5115697" cy="6858000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6A5465FF-E08C-4ECD-9AE2-1D48873ECC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4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7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5412135" y="-947254"/>
              <a:ext cx="5562598" cy="7457106"/>
            </a:xfrm>
            <a:prstGeom prst="rect">
              <a:avLst/>
            </a:prstGeom>
            <a:effectLst>
              <a:softEdge rad="0"/>
            </a:effectLst>
          </p:spPr>
        </p:pic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8B5FAB37-BB0D-41A8-A5C8-65ADE0F008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1228" y="685800"/>
            <a:ext cx="10820400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0A3ACC-91CB-B250-FC07-10A3D3644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8455" y="980919"/>
            <a:ext cx="5220924" cy="849700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dirty="0"/>
              <a:t>Yearling Spike Length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63E528F-8C90-812A-8CDD-04F864E09B5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20779174"/>
              </p:ext>
            </p:extLst>
          </p:nvPr>
        </p:nvGraphicFramePr>
        <p:xfrm>
          <a:off x="6381812" y="1124160"/>
          <a:ext cx="4861387" cy="47926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5922">
                  <a:extLst>
                    <a:ext uri="{9D8B030D-6E8A-4147-A177-3AD203B41FA5}">
                      <a16:colId xmlns:a16="http://schemas.microsoft.com/office/drawing/2014/main" val="2208629993"/>
                    </a:ext>
                  </a:extLst>
                </a:gridCol>
                <a:gridCol w="1225465">
                  <a:extLst>
                    <a:ext uri="{9D8B030D-6E8A-4147-A177-3AD203B41FA5}">
                      <a16:colId xmlns:a16="http://schemas.microsoft.com/office/drawing/2014/main" val="258538143"/>
                    </a:ext>
                  </a:extLst>
                </a:gridCol>
              </a:tblGrid>
              <a:tr h="367379">
                <a:tc>
                  <a:txBody>
                    <a:bodyPr/>
                    <a:lstStyle/>
                    <a:p>
                      <a:pPr lvl="0" algn="l"/>
                      <a:r>
                        <a:rPr lang="en-US" sz="1600" dirty="0"/>
                        <a:t>Models</a:t>
                      </a:r>
                    </a:p>
                  </a:txBody>
                  <a:tcPr marL="83495" marR="83495" marT="41748" marB="41748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AIC</a:t>
                      </a:r>
                    </a:p>
                  </a:txBody>
                  <a:tcPr marL="83495" marR="83495" marT="41748" marB="41748"/>
                </a:tc>
                <a:extLst>
                  <a:ext uri="{0D108BD9-81ED-4DB2-BD59-A6C34878D82A}">
                    <a16:rowId xmlns:a16="http://schemas.microsoft.com/office/drawing/2014/main" val="115300609"/>
                  </a:ext>
                </a:extLst>
              </a:tr>
              <a:tr h="442524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noProof="0" dirty="0">
                          <a:latin typeface="Avenir Next LT Pro"/>
                        </a:rPr>
                        <a:t>No Deer Year No Density 0 </a:t>
                      </a:r>
                      <a:r>
                        <a:rPr lang="en-US" sz="1600" b="0" i="0" u="none" strike="noStrike" noProof="0" dirty="0" err="1">
                          <a:latin typeface="Avenir Next LT Pro"/>
                        </a:rPr>
                        <a:t>d.f.</a:t>
                      </a:r>
                      <a:endParaRPr lang="en-US" sz="1600" dirty="0" err="1"/>
                    </a:p>
                  </a:txBody>
                  <a:tcPr marL="83495" marR="83495" marT="41748" marB="41748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noProof="0" dirty="0"/>
                        <a:t>2688.0   </a:t>
                      </a:r>
                      <a:endParaRPr lang="en-US"/>
                    </a:p>
                  </a:txBody>
                  <a:tcPr marL="83495" marR="83495" marT="41748" marB="41748"/>
                </a:tc>
                <a:extLst>
                  <a:ext uri="{0D108BD9-81ED-4DB2-BD59-A6C34878D82A}">
                    <a16:rowId xmlns:a16="http://schemas.microsoft.com/office/drawing/2014/main" val="2499047753"/>
                  </a:ext>
                </a:extLst>
              </a:tr>
              <a:tr h="442524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noProof="0" dirty="0">
                          <a:latin typeface="Avenir Next LT Pro"/>
                        </a:rPr>
                        <a:t>Deer Year (No Density) 1 </a:t>
                      </a:r>
                      <a:r>
                        <a:rPr lang="en-US" sz="1600" b="0" i="0" u="none" strike="noStrike" noProof="0" dirty="0" err="1">
                          <a:latin typeface="Avenir Next LT Pro"/>
                        </a:rPr>
                        <a:t>d.f.</a:t>
                      </a:r>
                      <a:endParaRPr lang="en-US" sz="1600" dirty="0" err="1"/>
                    </a:p>
                  </a:txBody>
                  <a:tcPr marL="83495" marR="83495" marT="41748" marB="41748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dirty="0"/>
                        <a:t>-14.6 ***</a:t>
                      </a:r>
                    </a:p>
                  </a:txBody>
                  <a:tcPr marL="83495" marR="83495" marT="41748" marB="41748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5255163"/>
                  </a:ext>
                </a:extLst>
              </a:tr>
              <a:tr h="442524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noProof="0" dirty="0">
                          <a:latin typeface="Avenir Next LT Pro"/>
                        </a:rPr>
                        <a:t>Hinds (No Deer Year) 1 </a:t>
                      </a:r>
                      <a:r>
                        <a:rPr lang="en-US" sz="1600" b="0" i="0" u="none" strike="noStrike" noProof="0" dirty="0" err="1">
                          <a:latin typeface="Avenir Next LT Pro"/>
                        </a:rPr>
                        <a:t>d.f.</a:t>
                      </a:r>
                      <a:endParaRPr lang="en-US" sz="1600" dirty="0" err="1"/>
                    </a:p>
                  </a:txBody>
                  <a:tcPr marL="83495" marR="83495" marT="41748" marB="41748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0" i="0" u="none" strike="noStrike" noProof="0" dirty="0">
                          <a:latin typeface="Avenir Next LT Pro"/>
                        </a:rPr>
                        <a:t>-6.3</a:t>
                      </a:r>
                      <a:endParaRPr lang="en-US" sz="1600" dirty="0"/>
                    </a:p>
                  </a:txBody>
                  <a:tcPr marL="83495" marR="83495" marT="41748" marB="41748"/>
                </a:tc>
                <a:extLst>
                  <a:ext uri="{0D108BD9-81ED-4DB2-BD59-A6C34878D82A}">
                    <a16:rowId xmlns:a16="http://schemas.microsoft.com/office/drawing/2014/main" val="3317886733"/>
                  </a:ext>
                </a:extLst>
              </a:tr>
              <a:tr h="442524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noProof="0" dirty="0">
                          <a:latin typeface="Avenir Next LT Pro"/>
                        </a:rPr>
                        <a:t>Hinds + Deer Year 2 </a:t>
                      </a:r>
                      <a:r>
                        <a:rPr lang="en-US" sz="1600" b="0" i="0" u="none" strike="noStrike" noProof="0" dirty="0" err="1">
                          <a:latin typeface="Avenir Next LT Pro"/>
                        </a:rPr>
                        <a:t>d.f.</a:t>
                      </a:r>
                      <a:endParaRPr lang="en-US" sz="1600" dirty="0" err="1"/>
                    </a:p>
                  </a:txBody>
                  <a:tcPr marL="83495" marR="83495" marT="41748" marB="41748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0" i="0" u="none" strike="noStrike" noProof="0" dirty="0">
                          <a:latin typeface="Avenir Next LT Pro"/>
                        </a:rPr>
                        <a:t>-13.5</a:t>
                      </a:r>
                      <a:endParaRPr lang="en-US" sz="1600" dirty="0"/>
                    </a:p>
                  </a:txBody>
                  <a:tcPr marL="83495" marR="83495" marT="41748" marB="41748"/>
                </a:tc>
                <a:extLst>
                  <a:ext uri="{0D108BD9-81ED-4DB2-BD59-A6C34878D82A}">
                    <a16:rowId xmlns:a16="http://schemas.microsoft.com/office/drawing/2014/main" val="3400404884"/>
                  </a:ext>
                </a:extLst>
              </a:tr>
              <a:tr h="442524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noProof="0" dirty="0">
                          <a:latin typeface="Avenir Next LT Pro"/>
                        </a:rPr>
                        <a:t>Adults (No Deer Year) 1 </a:t>
                      </a:r>
                      <a:r>
                        <a:rPr lang="en-US" sz="1600" b="0" i="0" u="none" strike="noStrike" noProof="0" dirty="0" err="1">
                          <a:latin typeface="Avenir Next LT Pro"/>
                        </a:rPr>
                        <a:t>d.f.</a:t>
                      </a:r>
                      <a:endParaRPr lang="en-US" sz="1600" dirty="0"/>
                    </a:p>
                  </a:txBody>
                  <a:tcPr marL="83495" marR="83495" marT="41748" marB="41748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0" i="0" u="none" strike="noStrike" noProof="0" dirty="0">
                          <a:latin typeface="Avenir Next LT Pro"/>
                        </a:rPr>
                        <a:t>+1.5</a:t>
                      </a:r>
                    </a:p>
                  </a:txBody>
                  <a:tcPr marL="83495" marR="83495" marT="41748" marB="41748"/>
                </a:tc>
                <a:extLst>
                  <a:ext uri="{0D108BD9-81ED-4DB2-BD59-A6C34878D82A}">
                    <a16:rowId xmlns:a16="http://schemas.microsoft.com/office/drawing/2014/main" val="101385146"/>
                  </a:ext>
                </a:extLst>
              </a:tr>
              <a:tr h="442524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noProof="0" dirty="0">
                          <a:latin typeface="Avenir Next LT Pro"/>
                        </a:rPr>
                        <a:t>Adults + Deer Year 2 </a:t>
                      </a:r>
                      <a:r>
                        <a:rPr lang="en-US" sz="1600" b="0" i="0" u="none" strike="noStrike" noProof="0" dirty="0" err="1">
                          <a:latin typeface="Avenir Next LT Pro"/>
                        </a:rPr>
                        <a:t>d.f.</a:t>
                      </a:r>
                      <a:endParaRPr lang="en-US" sz="1600" dirty="0"/>
                    </a:p>
                  </a:txBody>
                  <a:tcPr marL="83495" marR="83495" marT="41748" marB="41748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0" i="0" u="none" strike="noStrike" noProof="0" dirty="0">
                          <a:latin typeface="Avenir Next LT Pro"/>
                        </a:rPr>
                        <a:t>-14.8</a:t>
                      </a:r>
                      <a:endParaRPr lang="en-US" sz="1600" dirty="0"/>
                    </a:p>
                  </a:txBody>
                  <a:tcPr marL="83495" marR="83495" marT="41748" marB="41748"/>
                </a:tc>
                <a:extLst>
                  <a:ext uri="{0D108BD9-81ED-4DB2-BD59-A6C34878D82A}">
                    <a16:rowId xmlns:a16="http://schemas.microsoft.com/office/drawing/2014/main" val="641143631"/>
                  </a:ext>
                </a:extLst>
              </a:tr>
              <a:tr h="442524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noProof="0" dirty="0">
                          <a:latin typeface="Avenir Next LT Pro"/>
                        </a:rPr>
                        <a:t>Total (No Deer Year) 1 </a:t>
                      </a:r>
                      <a:r>
                        <a:rPr lang="en-US" sz="1600" b="0" i="0" u="none" strike="noStrike" noProof="0" dirty="0" err="1">
                          <a:latin typeface="Avenir Next LT Pro"/>
                        </a:rPr>
                        <a:t>d.f.</a:t>
                      </a:r>
                      <a:endParaRPr lang="en-US" sz="1600" dirty="0"/>
                    </a:p>
                  </a:txBody>
                  <a:tcPr marL="83495" marR="83495" marT="41748" marB="41748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0" i="0" u="none" strike="noStrike" noProof="0" dirty="0">
                          <a:latin typeface="Avenir Next LT Pro"/>
                        </a:rPr>
                        <a:t>+2.0</a:t>
                      </a:r>
                    </a:p>
                  </a:txBody>
                  <a:tcPr marL="83495" marR="83495" marT="41748" marB="41748"/>
                </a:tc>
                <a:extLst>
                  <a:ext uri="{0D108BD9-81ED-4DB2-BD59-A6C34878D82A}">
                    <a16:rowId xmlns:a16="http://schemas.microsoft.com/office/drawing/2014/main" val="3773169334"/>
                  </a:ext>
                </a:extLst>
              </a:tr>
              <a:tr h="442524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noProof="0" dirty="0">
                          <a:latin typeface="Avenir Next LT Pro"/>
                        </a:rPr>
                        <a:t>Total + Deer Year 2 </a:t>
                      </a:r>
                      <a:r>
                        <a:rPr lang="en-US" sz="1600" b="0" i="0" u="none" strike="noStrike" noProof="0" dirty="0" err="1">
                          <a:latin typeface="Avenir Next LT Pro"/>
                        </a:rPr>
                        <a:t>d.f.</a:t>
                      </a:r>
                      <a:endParaRPr lang="en-US" sz="1600" dirty="0"/>
                    </a:p>
                  </a:txBody>
                  <a:tcPr marL="83495" marR="83495" marT="41748" marB="41748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0" i="0" u="none" strike="noStrike" noProof="0" dirty="0">
                          <a:latin typeface="Avenir Next LT Pro"/>
                        </a:rPr>
                        <a:t>-13.9</a:t>
                      </a:r>
                      <a:endParaRPr lang="en-US" sz="1600" dirty="0"/>
                    </a:p>
                  </a:txBody>
                  <a:tcPr marL="83495" marR="83495" marT="41748" marB="41748"/>
                </a:tc>
                <a:extLst>
                  <a:ext uri="{0D108BD9-81ED-4DB2-BD59-A6C34878D82A}">
                    <a16:rowId xmlns:a16="http://schemas.microsoft.com/office/drawing/2014/main" val="354424491"/>
                  </a:ext>
                </a:extLst>
              </a:tr>
              <a:tr h="442524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noProof="0" dirty="0">
                          <a:latin typeface="Avenir Next LT Pro"/>
                        </a:rPr>
                        <a:t>Livestock Units (No Deer Year) 1 </a:t>
                      </a:r>
                      <a:r>
                        <a:rPr lang="en-US" sz="1600" b="0" i="0" u="none" strike="noStrike" noProof="0" dirty="0" err="1">
                          <a:latin typeface="Avenir Next LT Pro"/>
                        </a:rPr>
                        <a:t>d.f.</a:t>
                      </a:r>
                      <a:endParaRPr lang="en-US" sz="1600" dirty="0"/>
                    </a:p>
                  </a:txBody>
                  <a:tcPr marL="83495" marR="83495" marT="41748" marB="41748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0" i="0" u="none" strike="noStrike" noProof="0" dirty="0">
                          <a:latin typeface="Avenir Next LT Pro"/>
                        </a:rPr>
                        <a:t>+0.9</a:t>
                      </a:r>
                    </a:p>
                  </a:txBody>
                  <a:tcPr marL="83495" marR="83495" marT="41748" marB="41748"/>
                </a:tc>
                <a:extLst>
                  <a:ext uri="{0D108BD9-81ED-4DB2-BD59-A6C34878D82A}">
                    <a16:rowId xmlns:a16="http://schemas.microsoft.com/office/drawing/2014/main" val="2954033080"/>
                  </a:ext>
                </a:extLst>
              </a:tr>
              <a:tr h="442524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noProof="0" dirty="0">
                          <a:latin typeface="Avenir Next LT Pro"/>
                        </a:rPr>
                        <a:t>Livestock Units + Deer Year 2 </a:t>
                      </a:r>
                      <a:r>
                        <a:rPr lang="en-US" sz="1600" b="0" i="0" u="none" strike="noStrike" noProof="0" dirty="0" err="1">
                          <a:latin typeface="Avenir Next LT Pro"/>
                        </a:rPr>
                        <a:t>d.f.</a:t>
                      </a:r>
                      <a:endParaRPr lang="en-US" sz="1600" dirty="0"/>
                    </a:p>
                  </a:txBody>
                  <a:tcPr marL="83495" marR="83495" marT="41748" marB="41748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0" i="0" u="none" strike="noStrike" noProof="0" dirty="0">
                          <a:latin typeface="Avenir Next LT Pro"/>
                        </a:rPr>
                        <a:t>-14.4</a:t>
                      </a:r>
                      <a:endParaRPr lang="en-US" sz="1600" dirty="0"/>
                    </a:p>
                  </a:txBody>
                  <a:tcPr marL="83495" marR="83495" marT="41748" marB="41748"/>
                </a:tc>
                <a:extLst>
                  <a:ext uri="{0D108BD9-81ED-4DB2-BD59-A6C34878D82A}">
                    <a16:rowId xmlns:a16="http://schemas.microsoft.com/office/drawing/2014/main" val="1877217521"/>
                  </a:ext>
                </a:extLst>
              </a:tr>
            </a:tbl>
          </a:graphicData>
        </a:graphic>
      </p:graphicFrame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4AEF2CD-261B-131D-B98B-56E81C0121AB}"/>
              </a:ext>
            </a:extLst>
          </p:cNvPr>
          <p:cNvSpPr txBox="1">
            <a:spLocks/>
          </p:cNvSpPr>
          <p:nvPr/>
        </p:nvSpPr>
        <p:spPr>
          <a:xfrm>
            <a:off x="1173069" y="1858203"/>
            <a:ext cx="4635975" cy="331830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rgbClr val="404040"/>
                </a:solidFill>
                <a:ea typeface="+mn-lt"/>
                <a:cs typeface="+mn-lt"/>
              </a:rPr>
              <a:t>(n=607) </a:t>
            </a:r>
            <a:endParaRPr lang="en-US" sz="2400" b="1" dirty="0">
              <a:solidFill>
                <a:srgbClr val="000000"/>
              </a:solidFill>
              <a:latin typeface="Avenir Next LT Pro"/>
              <a:ea typeface="+mn-lt"/>
              <a:cs typeface="Arial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b="1" dirty="0">
                <a:solidFill>
                  <a:srgbClr val="404040"/>
                </a:solidFill>
                <a:latin typeface="Avenir Next LT Pro"/>
                <a:ea typeface="+mn-lt"/>
                <a:cs typeface="Arial"/>
              </a:rPr>
              <a:t>Best Model:</a:t>
            </a:r>
            <a:endParaRPr lang="en-US" sz="2400" b="1" dirty="0">
              <a:latin typeface="Avenir Next LT Pro"/>
              <a:ea typeface="+mn-lt"/>
              <a:cs typeface="Arial"/>
            </a:endParaRP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buFont typeface="Arial,Sans-Serif" panose="020B0604020202020204" pitchFamily="34" charset="0"/>
            </a:pPr>
            <a:r>
              <a:rPr lang="en-US" sz="2400" dirty="0">
                <a:solidFill>
                  <a:srgbClr val="404040"/>
                </a:solidFill>
                <a:latin typeface="Avenir Next LT Pro"/>
                <a:ea typeface="+mn-lt"/>
                <a:cs typeface="Arial"/>
              </a:rPr>
              <a:t>Without Density </a:t>
            </a:r>
            <a:endParaRPr lang="en-US" sz="2400" dirty="0">
              <a:latin typeface="Avenir Next LT Pro"/>
              <a:ea typeface="+mn-lt"/>
              <a:cs typeface="Arial"/>
            </a:endParaRP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buFont typeface="Arial,Sans-Serif" panose="020B0604020202020204" pitchFamily="34" charset="0"/>
            </a:pPr>
            <a:r>
              <a:rPr lang="en-US" sz="2400" dirty="0">
                <a:solidFill>
                  <a:srgbClr val="404040"/>
                </a:solidFill>
                <a:latin typeface="Avenir Next LT Pro"/>
                <a:ea typeface="+mn-lt"/>
                <a:cs typeface="Arial"/>
              </a:rPr>
              <a:t>With Deer Year</a:t>
            </a:r>
            <a:endParaRPr lang="en-US" sz="2400" dirty="0">
              <a:solidFill>
                <a:srgbClr val="000000"/>
              </a:solidFill>
              <a:latin typeface="Avenir Next LT Pro"/>
              <a:ea typeface="+mn-lt"/>
              <a:cs typeface="Arial"/>
            </a:endParaRP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buFont typeface="Arial,Sans-Serif" panose="020B0604020202020204" pitchFamily="34" charset="0"/>
            </a:pPr>
            <a:r>
              <a:rPr lang="en-US" sz="2400" dirty="0">
                <a:solidFill>
                  <a:srgbClr val="404040"/>
                </a:solidFill>
                <a:latin typeface="Avenir Next LT Pro"/>
                <a:ea typeface="+mn-lt"/>
                <a:cs typeface="Arial"/>
              </a:rPr>
              <a:t>AIC: </a:t>
            </a:r>
            <a:r>
              <a:rPr lang="en-US" sz="2400" dirty="0">
                <a:solidFill>
                  <a:srgbClr val="404040"/>
                </a:solidFill>
                <a:ea typeface="+mn-lt"/>
                <a:cs typeface="+mn-lt"/>
              </a:rPr>
              <a:t>2673.4</a:t>
            </a:r>
            <a:endParaRPr lang="en-US" sz="2400" dirty="0">
              <a:latin typeface="Avenir Next LT Pro"/>
              <a:ea typeface="+mn-lt"/>
              <a:cs typeface="Arial"/>
            </a:endParaRPr>
          </a:p>
          <a:p>
            <a:pPr marL="914400" lvl="1">
              <a:lnSpc>
                <a:spcPct val="100000"/>
              </a:lnSpc>
              <a:spcBef>
                <a:spcPts val="0"/>
              </a:spcBef>
              <a:buFont typeface="Arial,Sans-Serif" panose="020B0604020202020204" pitchFamily="34" charset="0"/>
              <a:buChar char="•"/>
            </a:pPr>
            <a:endParaRPr lang="en-US" sz="2000" dirty="0">
              <a:solidFill>
                <a:srgbClr val="404040"/>
              </a:solidFill>
              <a:latin typeface="Avenir Next LT Pro"/>
              <a:ea typeface="+mn-lt"/>
              <a:cs typeface="Arial"/>
            </a:endParaRP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buFont typeface="Arial,Sans-Serif" panose="020B0604020202020204" pitchFamily="34" charset="0"/>
              <a:buChar char="•"/>
            </a:pPr>
            <a:r>
              <a:rPr lang="en-US" sz="2400" dirty="0">
                <a:solidFill>
                  <a:srgbClr val="404040"/>
                </a:solidFill>
                <a:latin typeface="Avenir Next LT Pro"/>
                <a:ea typeface="+mn-lt"/>
                <a:cs typeface="Arial"/>
              </a:rPr>
              <a:t>Deer Year Effect Size: </a:t>
            </a:r>
            <a:endParaRPr lang="en-US" sz="2400" dirty="0">
              <a:latin typeface="Avenir Next LT Pro"/>
              <a:ea typeface="+mn-lt"/>
              <a:cs typeface="Arial"/>
            </a:endParaRP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buFont typeface="Arial,Sans-Serif" panose="020B0604020202020204" pitchFamily="34" charset="0"/>
              <a:buChar char="•"/>
            </a:pPr>
            <a:r>
              <a:rPr lang="en-US" sz="2400" dirty="0">
                <a:solidFill>
                  <a:srgbClr val="404040"/>
                </a:solidFill>
                <a:latin typeface="Avenir Next LT Pro"/>
                <a:ea typeface="+mn-lt"/>
                <a:cs typeface="Arial"/>
              </a:rPr>
              <a:t>+0.345 (p = </a:t>
            </a:r>
            <a:r>
              <a:rPr lang="en-US" sz="2400" dirty="0">
                <a:solidFill>
                  <a:srgbClr val="404040"/>
                </a:solidFill>
                <a:ea typeface="+mn-lt"/>
                <a:cs typeface="+mn-lt"/>
              </a:rPr>
              <a:t>6.15e-06</a:t>
            </a:r>
            <a:r>
              <a:rPr lang="en-US" sz="2400" dirty="0">
                <a:solidFill>
                  <a:srgbClr val="404040"/>
                </a:solidFill>
                <a:latin typeface="Avenir Next LT Pro"/>
                <a:ea typeface="+mn-lt"/>
                <a:cs typeface="Arial"/>
              </a:rPr>
              <a:t>)</a:t>
            </a:r>
            <a:endParaRPr lang="en-US" sz="2400" dirty="0">
              <a:latin typeface="Avenir Next LT Pro"/>
              <a:ea typeface="+mn-lt"/>
              <a:cs typeface="Arial"/>
            </a:endParaRPr>
          </a:p>
          <a:p>
            <a:pPr marL="914400" lvl="1">
              <a:lnSpc>
                <a:spcPct val="100000"/>
              </a:lnSpc>
              <a:spcBef>
                <a:spcPts val="0"/>
              </a:spcBef>
              <a:buFont typeface="Arial,Sans-Serif" panose="020B0604020202020204" pitchFamily="34" charset="0"/>
            </a:pPr>
            <a:endParaRPr lang="en-US" sz="2000" dirty="0">
              <a:solidFill>
                <a:srgbClr val="404040"/>
              </a:solidFill>
              <a:cs typeface="Arial"/>
            </a:endParaRP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buFont typeface="Arial,Sans-Serif" panose="020B0604020202020204" pitchFamily="34" charset="0"/>
            </a:pPr>
            <a:r>
              <a:rPr lang="en-US" sz="2400" dirty="0">
                <a:solidFill>
                  <a:srgbClr val="404040"/>
                </a:solidFill>
                <a:cs typeface="Arial"/>
              </a:rPr>
              <a:t>Models with Deer Year performs better in general</a:t>
            </a:r>
          </a:p>
          <a:p>
            <a:endParaRPr lang="en-US" sz="2400" dirty="0">
              <a:solidFill>
                <a:srgbClr val="000000"/>
              </a:solidFill>
              <a:cs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F50697-25FE-9AE3-6B3D-EE94E475C335}"/>
              </a:ext>
            </a:extLst>
          </p:cNvPr>
          <p:cNvSpPr txBox="1"/>
          <p:nvPr/>
        </p:nvSpPr>
        <p:spPr>
          <a:xfrm>
            <a:off x="914401" y="698740"/>
            <a:ext cx="1036319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glmmTMB</a:t>
            </a:r>
            <a:r>
              <a:rPr lang="en-US" dirty="0"/>
              <a:t>(</a:t>
            </a:r>
            <a:r>
              <a:rPr lang="en-US" dirty="0" err="1"/>
              <a:t>AvgSpike~BirthWt+DeerYear</a:t>
            </a:r>
            <a:r>
              <a:rPr lang="en-US" dirty="0"/>
              <a:t>+(1|DeerYear)+(1|MumCode)</a:t>
            </a:r>
            <a:r>
              <a:rPr lang="en-US" dirty="0">
                <a:ea typeface="+mn-lt"/>
                <a:cs typeface="+mn-lt"/>
              </a:rPr>
              <a:t>, family = gaussian()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77249198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B308828-4749-4D6D-9CEA-433D2BD27E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0" y="0"/>
            <a:ext cx="7724071" cy="6858000"/>
            <a:chOff x="4464881" y="0"/>
            <a:chExt cx="7724071" cy="6858000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FA43358F-8AF6-45AF-B1D4-3EA84DDE72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2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1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3255" y="0"/>
              <a:ext cx="5115697" cy="6858000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33B887FE-73E4-4849-9FF5-BEBA04068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7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5412135" y="-947254"/>
              <a:ext cx="5562598" cy="7457106"/>
            </a:xfrm>
            <a:prstGeom prst="rect">
              <a:avLst/>
            </a:prstGeom>
            <a:effectLst>
              <a:softEdge rad="0"/>
            </a:effectLst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24590D4-0057-C65C-7859-9EE7F7695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1066800"/>
            <a:ext cx="5410200" cy="1997075"/>
          </a:xfrm>
        </p:spPr>
        <p:txBody>
          <a:bodyPr>
            <a:normAutofit/>
          </a:bodyPr>
          <a:lstStyle/>
          <a:p>
            <a:endParaRPr lang="en-US" sz="3600">
              <a:cs typeface="Sabon Next LT"/>
            </a:endParaRPr>
          </a:p>
        </p:txBody>
      </p:sp>
      <p:pic>
        <p:nvPicPr>
          <p:cNvPr id="6" name="Content Placeholder 5" descr="A graph with black dots and blue lines&#10;&#10;Description automatically generated">
            <a:extLst>
              <a:ext uri="{FF2B5EF4-FFF2-40B4-BE49-F238E27FC236}">
                <a16:creationId xmlns:a16="http://schemas.microsoft.com/office/drawing/2014/main" id="{D4B2D4E0-7FAA-FFE8-CDA0-A83E491539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5772387" y="-13278"/>
            <a:ext cx="6419953" cy="6874308"/>
          </a:xfrm>
        </p:spPr>
      </p:pic>
      <p:pic>
        <p:nvPicPr>
          <p:cNvPr id="3" name="Picture 2" descr="A white sheet with black text&#10;&#10;Description automatically generated">
            <a:extLst>
              <a:ext uri="{FF2B5EF4-FFF2-40B4-BE49-F238E27FC236}">
                <a16:creationId xmlns:a16="http://schemas.microsoft.com/office/drawing/2014/main" id="{53C7A0A6-E3A4-E310-FCE2-6A29DFB8D0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9623" y="1066079"/>
            <a:ext cx="5067300" cy="4772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883911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BABF38A-8A0D-492E-BD20-6CF4D46B5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4"/>
          </a:xfrm>
          <a:prstGeom prst="rect">
            <a:avLst/>
          </a:prstGeom>
          <a:solidFill>
            <a:schemeClr val="bg2">
              <a:lumMod val="9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C526B7A-4801-4FD1-95C8-03AF22629E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400" y="0"/>
            <a:ext cx="3654612" cy="4575348"/>
          </a:xfrm>
          <a:prstGeom prst="rect">
            <a:avLst/>
          </a:prstGeom>
        </p:spPr>
      </p:pic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DE61FBD7-E37C-4B38-BE44-A6D4978D7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92BFCFE-FD78-4EDF-BEFE-CC444DC5F3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7102190-C0A1-4788-99F6-6A2F544443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0" y="0"/>
            <a:ext cx="7724071" cy="6858000"/>
            <a:chOff x="4464881" y="0"/>
            <a:chExt cx="7724071" cy="6858000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2821F602-B65F-4D39-86B7-9ED5C17350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1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3255" y="0"/>
              <a:ext cx="5115697" cy="6858000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6A5465FF-E08C-4ECD-9AE2-1D48873ECC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4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7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5412135" y="-947254"/>
              <a:ext cx="5562598" cy="7457106"/>
            </a:xfrm>
            <a:prstGeom prst="rect">
              <a:avLst/>
            </a:prstGeom>
            <a:effectLst>
              <a:softEdge rad="0"/>
            </a:effectLst>
          </p:spPr>
        </p:pic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8B5FAB37-BB0D-41A8-A5C8-65ADE0F008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1228" y="685800"/>
            <a:ext cx="10820400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0A3ACC-91CB-B250-FC07-10A3D3644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8175" y="1133230"/>
            <a:ext cx="5196734" cy="8497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Fecundity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63E528F-8C90-812A-8CDD-04F864E09B5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35809744"/>
              </p:ext>
            </p:extLst>
          </p:nvPr>
        </p:nvGraphicFramePr>
        <p:xfrm>
          <a:off x="6353057" y="1138538"/>
          <a:ext cx="4861387" cy="47926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5922">
                  <a:extLst>
                    <a:ext uri="{9D8B030D-6E8A-4147-A177-3AD203B41FA5}">
                      <a16:colId xmlns:a16="http://schemas.microsoft.com/office/drawing/2014/main" val="2208629993"/>
                    </a:ext>
                  </a:extLst>
                </a:gridCol>
                <a:gridCol w="1225465">
                  <a:extLst>
                    <a:ext uri="{9D8B030D-6E8A-4147-A177-3AD203B41FA5}">
                      <a16:colId xmlns:a16="http://schemas.microsoft.com/office/drawing/2014/main" val="258538143"/>
                    </a:ext>
                  </a:extLst>
                </a:gridCol>
              </a:tblGrid>
              <a:tr h="367379">
                <a:tc>
                  <a:txBody>
                    <a:bodyPr/>
                    <a:lstStyle/>
                    <a:p>
                      <a:pPr lvl="0" algn="l"/>
                      <a:r>
                        <a:rPr lang="en-US" sz="1600" dirty="0"/>
                        <a:t>Models</a:t>
                      </a:r>
                    </a:p>
                  </a:txBody>
                  <a:tcPr marL="83495" marR="83495" marT="41748" marB="41748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AIC</a:t>
                      </a:r>
                    </a:p>
                  </a:txBody>
                  <a:tcPr marL="83495" marR="83495" marT="41748" marB="41748"/>
                </a:tc>
                <a:extLst>
                  <a:ext uri="{0D108BD9-81ED-4DB2-BD59-A6C34878D82A}">
                    <a16:rowId xmlns:a16="http://schemas.microsoft.com/office/drawing/2014/main" val="115300609"/>
                  </a:ext>
                </a:extLst>
              </a:tr>
              <a:tr h="442524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noProof="0" dirty="0">
                          <a:latin typeface="Avenir Next LT Pro"/>
                        </a:rPr>
                        <a:t>No Deer Year No Density 0 </a:t>
                      </a:r>
                      <a:r>
                        <a:rPr lang="en-US" sz="1600" b="0" i="0" u="none" strike="noStrike" noProof="0" dirty="0" err="1">
                          <a:latin typeface="Avenir Next LT Pro"/>
                        </a:rPr>
                        <a:t>d.f.</a:t>
                      </a:r>
                      <a:endParaRPr lang="en-US" sz="1600" dirty="0" err="1"/>
                    </a:p>
                  </a:txBody>
                  <a:tcPr marL="83495" marR="83495" marT="41748" marB="41748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noProof="0" dirty="0">
                          <a:latin typeface="Avenir Next LT Pro"/>
                        </a:rPr>
                        <a:t>6447.0</a:t>
                      </a:r>
                      <a:endParaRPr lang="en-US" sz="1600" dirty="0"/>
                    </a:p>
                  </a:txBody>
                  <a:tcPr marL="83495" marR="83495" marT="41748" marB="41748"/>
                </a:tc>
                <a:extLst>
                  <a:ext uri="{0D108BD9-81ED-4DB2-BD59-A6C34878D82A}">
                    <a16:rowId xmlns:a16="http://schemas.microsoft.com/office/drawing/2014/main" val="2499047753"/>
                  </a:ext>
                </a:extLst>
              </a:tr>
              <a:tr h="442524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noProof="0" dirty="0">
                          <a:latin typeface="Avenir Next LT Pro"/>
                        </a:rPr>
                        <a:t>Deer Year (No Density) 1 </a:t>
                      </a:r>
                      <a:r>
                        <a:rPr lang="en-US" sz="1600" b="0" i="0" u="none" strike="noStrike" noProof="0" dirty="0" err="1">
                          <a:latin typeface="Avenir Next LT Pro"/>
                        </a:rPr>
                        <a:t>d.f.</a:t>
                      </a:r>
                      <a:endParaRPr lang="en-US" sz="1600" dirty="0" err="1"/>
                    </a:p>
                  </a:txBody>
                  <a:tcPr marL="83495" marR="83495" marT="41748" marB="41748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-3.7</a:t>
                      </a:r>
                    </a:p>
                  </a:txBody>
                  <a:tcPr marL="83495" marR="83495" marT="41748" marB="41748"/>
                </a:tc>
                <a:extLst>
                  <a:ext uri="{0D108BD9-81ED-4DB2-BD59-A6C34878D82A}">
                    <a16:rowId xmlns:a16="http://schemas.microsoft.com/office/drawing/2014/main" val="2655255163"/>
                  </a:ext>
                </a:extLst>
              </a:tr>
              <a:tr h="442524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noProof="0" dirty="0">
                          <a:latin typeface="Avenir Next LT Pro"/>
                        </a:rPr>
                        <a:t>Hinds (No Deer Year) 1 </a:t>
                      </a:r>
                      <a:r>
                        <a:rPr lang="en-US" sz="1600" b="0" i="0" u="none" strike="noStrike" noProof="0" dirty="0" err="1">
                          <a:latin typeface="Avenir Next LT Pro"/>
                        </a:rPr>
                        <a:t>d.f.</a:t>
                      </a:r>
                      <a:endParaRPr lang="en-US" sz="1600" dirty="0" err="1"/>
                    </a:p>
                  </a:txBody>
                  <a:tcPr marL="83495" marR="83495" marT="41748" marB="41748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0" i="0" u="none" strike="noStrike" noProof="0" dirty="0">
                          <a:latin typeface="Avenir Next LT Pro"/>
                        </a:rPr>
                        <a:t>-91.2 ***</a:t>
                      </a:r>
                      <a:endParaRPr lang="en-US" sz="1600" dirty="0"/>
                    </a:p>
                  </a:txBody>
                  <a:tcPr marL="83495" marR="83495" marT="41748" marB="41748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7886733"/>
                  </a:ext>
                </a:extLst>
              </a:tr>
              <a:tr h="442524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noProof="0" dirty="0">
                          <a:latin typeface="Avenir Next LT Pro"/>
                        </a:rPr>
                        <a:t>Hinds + Deer Year 2 </a:t>
                      </a:r>
                      <a:r>
                        <a:rPr lang="en-US" sz="1600" b="0" i="0" u="none" strike="noStrike" noProof="0" dirty="0" err="1">
                          <a:latin typeface="Avenir Next LT Pro"/>
                        </a:rPr>
                        <a:t>d.f.</a:t>
                      </a:r>
                      <a:endParaRPr lang="en-US" sz="1600" dirty="0" err="1"/>
                    </a:p>
                  </a:txBody>
                  <a:tcPr marL="83495" marR="83495" marT="41748" marB="41748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0" i="0" u="none" strike="noStrike" noProof="0" dirty="0">
                          <a:latin typeface="Avenir Next LT Pro"/>
                        </a:rPr>
                        <a:t>-90</a:t>
                      </a:r>
                      <a:endParaRPr lang="en-US" sz="1600" dirty="0"/>
                    </a:p>
                  </a:txBody>
                  <a:tcPr marL="83495" marR="83495" marT="41748" marB="41748"/>
                </a:tc>
                <a:extLst>
                  <a:ext uri="{0D108BD9-81ED-4DB2-BD59-A6C34878D82A}">
                    <a16:rowId xmlns:a16="http://schemas.microsoft.com/office/drawing/2014/main" val="3400404884"/>
                  </a:ext>
                </a:extLst>
              </a:tr>
              <a:tr h="442524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noProof="0" dirty="0">
                          <a:latin typeface="Avenir Next LT Pro"/>
                        </a:rPr>
                        <a:t>Adults (No Deer Year) 1 </a:t>
                      </a:r>
                      <a:r>
                        <a:rPr lang="en-US" sz="1600" b="0" i="0" u="none" strike="noStrike" noProof="0" dirty="0" err="1">
                          <a:latin typeface="Avenir Next LT Pro"/>
                        </a:rPr>
                        <a:t>d.f.</a:t>
                      </a:r>
                      <a:endParaRPr lang="en-US" sz="1600" dirty="0"/>
                    </a:p>
                  </a:txBody>
                  <a:tcPr marL="83495" marR="83495" marT="41748" marB="41748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0" i="0" u="none" strike="noStrike" noProof="0" dirty="0">
                          <a:latin typeface="Avenir Next LT Pro"/>
                        </a:rPr>
                        <a:t>-72.2</a:t>
                      </a:r>
                      <a:endParaRPr lang="en-US" sz="1600" dirty="0"/>
                    </a:p>
                  </a:txBody>
                  <a:tcPr marL="83495" marR="83495" marT="41748" marB="41748"/>
                </a:tc>
                <a:extLst>
                  <a:ext uri="{0D108BD9-81ED-4DB2-BD59-A6C34878D82A}">
                    <a16:rowId xmlns:a16="http://schemas.microsoft.com/office/drawing/2014/main" val="101385146"/>
                  </a:ext>
                </a:extLst>
              </a:tr>
              <a:tr h="442524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noProof="0" dirty="0">
                          <a:latin typeface="Avenir Next LT Pro"/>
                        </a:rPr>
                        <a:t>Adults + Deer Year 2 </a:t>
                      </a:r>
                      <a:r>
                        <a:rPr lang="en-US" sz="1600" b="0" i="0" u="none" strike="noStrike" noProof="0" dirty="0" err="1">
                          <a:latin typeface="Avenir Next LT Pro"/>
                        </a:rPr>
                        <a:t>d.f.</a:t>
                      </a:r>
                      <a:endParaRPr lang="en-US" sz="1600" dirty="0"/>
                    </a:p>
                  </a:txBody>
                  <a:tcPr marL="83495" marR="83495" marT="41748" marB="41748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0" i="0" u="none" strike="noStrike" noProof="0" dirty="0">
                          <a:latin typeface="Avenir Next LT Pro"/>
                        </a:rPr>
                        <a:t>-82</a:t>
                      </a:r>
                      <a:endParaRPr lang="en-US" sz="1600" dirty="0"/>
                    </a:p>
                  </a:txBody>
                  <a:tcPr marL="83495" marR="83495" marT="41748" marB="41748"/>
                </a:tc>
                <a:extLst>
                  <a:ext uri="{0D108BD9-81ED-4DB2-BD59-A6C34878D82A}">
                    <a16:rowId xmlns:a16="http://schemas.microsoft.com/office/drawing/2014/main" val="641143631"/>
                  </a:ext>
                </a:extLst>
              </a:tr>
              <a:tr h="442524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noProof="0" dirty="0">
                          <a:latin typeface="Avenir Next LT Pro"/>
                        </a:rPr>
                        <a:t>Total (No Deer Year) 1 </a:t>
                      </a:r>
                      <a:r>
                        <a:rPr lang="en-US" sz="1600" b="0" i="0" u="none" strike="noStrike" noProof="0" dirty="0" err="1">
                          <a:latin typeface="Avenir Next LT Pro"/>
                        </a:rPr>
                        <a:t>d.f.</a:t>
                      </a:r>
                      <a:endParaRPr lang="en-US" sz="1600" dirty="0"/>
                    </a:p>
                  </a:txBody>
                  <a:tcPr marL="83495" marR="83495" marT="41748" marB="41748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0" i="0" u="none" strike="noStrike" noProof="0" dirty="0">
                          <a:latin typeface="Avenir Next LT Pro"/>
                        </a:rPr>
                        <a:t>-72.5</a:t>
                      </a:r>
                      <a:endParaRPr lang="en-US" sz="1600" dirty="0"/>
                    </a:p>
                  </a:txBody>
                  <a:tcPr marL="83495" marR="83495" marT="41748" marB="41748"/>
                </a:tc>
                <a:extLst>
                  <a:ext uri="{0D108BD9-81ED-4DB2-BD59-A6C34878D82A}">
                    <a16:rowId xmlns:a16="http://schemas.microsoft.com/office/drawing/2014/main" val="3773169334"/>
                  </a:ext>
                </a:extLst>
              </a:tr>
              <a:tr h="442524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noProof="0" dirty="0">
                          <a:latin typeface="Avenir Next LT Pro"/>
                        </a:rPr>
                        <a:t>Total + Deer Year 2 </a:t>
                      </a:r>
                      <a:r>
                        <a:rPr lang="en-US" sz="1600" b="0" i="0" u="none" strike="noStrike" noProof="0" dirty="0" err="1">
                          <a:latin typeface="Avenir Next LT Pro"/>
                        </a:rPr>
                        <a:t>d.f.</a:t>
                      </a:r>
                      <a:endParaRPr lang="en-US" sz="1600" dirty="0"/>
                    </a:p>
                  </a:txBody>
                  <a:tcPr marL="83495" marR="83495" marT="41748" marB="41748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0" i="0" u="none" strike="noStrike" noProof="0" dirty="0">
                          <a:latin typeface="Avenir Next LT Pro"/>
                        </a:rPr>
                        <a:t>-77.9</a:t>
                      </a:r>
                      <a:endParaRPr lang="en-US" sz="1600" dirty="0"/>
                    </a:p>
                  </a:txBody>
                  <a:tcPr marL="83495" marR="83495" marT="41748" marB="41748"/>
                </a:tc>
                <a:extLst>
                  <a:ext uri="{0D108BD9-81ED-4DB2-BD59-A6C34878D82A}">
                    <a16:rowId xmlns:a16="http://schemas.microsoft.com/office/drawing/2014/main" val="354424491"/>
                  </a:ext>
                </a:extLst>
              </a:tr>
              <a:tr h="442524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noProof="0" dirty="0">
                          <a:latin typeface="Avenir Next LT Pro"/>
                        </a:rPr>
                        <a:t>Livestock Units (No Deer Year) 1 </a:t>
                      </a:r>
                      <a:r>
                        <a:rPr lang="en-US" sz="1600" b="0" i="0" u="none" strike="noStrike" noProof="0" dirty="0" err="1">
                          <a:latin typeface="Avenir Next LT Pro"/>
                        </a:rPr>
                        <a:t>d.f.</a:t>
                      </a:r>
                      <a:endParaRPr lang="en-US" sz="1600" dirty="0"/>
                    </a:p>
                  </a:txBody>
                  <a:tcPr marL="83495" marR="83495" marT="41748" marB="41748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0" i="0" u="none" strike="noStrike" noProof="0" dirty="0">
                          <a:latin typeface="Avenir Next LT Pro"/>
                        </a:rPr>
                        <a:t>-69.8</a:t>
                      </a:r>
                      <a:endParaRPr lang="en-US" sz="1600" dirty="0"/>
                    </a:p>
                  </a:txBody>
                  <a:tcPr marL="83495" marR="83495" marT="41748" marB="41748"/>
                </a:tc>
                <a:extLst>
                  <a:ext uri="{0D108BD9-81ED-4DB2-BD59-A6C34878D82A}">
                    <a16:rowId xmlns:a16="http://schemas.microsoft.com/office/drawing/2014/main" val="2954033080"/>
                  </a:ext>
                </a:extLst>
              </a:tr>
              <a:tr h="442524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noProof="0" dirty="0">
                          <a:latin typeface="Avenir Next LT Pro"/>
                        </a:rPr>
                        <a:t>Livestock Units + Deer Year 2 </a:t>
                      </a:r>
                      <a:r>
                        <a:rPr lang="en-US" sz="1600" b="0" i="0" u="none" strike="noStrike" noProof="0" dirty="0" err="1">
                          <a:latin typeface="Avenir Next LT Pro"/>
                        </a:rPr>
                        <a:t>d.f.</a:t>
                      </a:r>
                      <a:endParaRPr lang="en-US" sz="1600" dirty="0"/>
                    </a:p>
                  </a:txBody>
                  <a:tcPr marL="83495" marR="83495" marT="41748" marB="41748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0" i="0" u="none" strike="noStrike" noProof="0" dirty="0">
                          <a:latin typeface="Avenir Next LT Pro"/>
                        </a:rPr>
                        <a:t>-77.6</a:t>
                      </a:r>
                      <a:endParaRPr lang="en-US" sz="1600" dirty="0"/>
                    </a:p>
                  </a:txBody>
                  <a:tcPr marL="83495" marR="83495" marT="41748" marB="41748"/>
                </a:tc>
                <a:extLst>
                  <a:ext uri="{0D108BD9-81ED-4DB2-BD59-A6C34878D82A}">
                    <a16:rowId xmlns:a16="http://schemas.microsoft.com/office/drawing/2014/main" val="1877217521"/>
                  </a:ext>
                </a:extLst>
              </a:tr>
            </a:tbl>
          </a:graphicData>
        </a:graphic>
      </p:graphicFrame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4AEF2CD-261B-131D-B98B-56E81C0121AB}"/>
              </a:ext>
            </a:extLst>
          </p:cNvPr>
          <p:cNvSpPr txBox="1">
            <a:spLocks/>
          </p:cNvSpPr>
          <p:nvPr/>
        </p:nvSpPr>
        <p:spPr>
          <a:xfrm>
            <a:off x="1220694" y="2281661"/>
            <a:ext cx="4635975" cy="331830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rgbClr val="404040"/>
                </a:solidFill>
                <a:ea typeface="+mn-lt"/>
                <a:cs typeface="+mn-lt"/>
              </a:rPr>
              <a:t>Yearly Fecundity (n=6,053) of Hinds (n=917) </a:t>
            </a:r>
            <a:endParaRPr lang="en-US" sz="2400" b="1">
              <a:solidFill>
                <a:srgbClr val="000000"/>
              </a:solidFill>
              <a:latin typeface="Avenir Next LT Pro"/>
              <a:ea typeface="+mn-lt"/>
              <a:cs typeface="Arial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b="1" dirty="0">
              <a:solidFill>
                <a:srgbClr val="404040"/>
              </a:solidFill>
              <a:latin typeface="Avenir Next LT Pro"/>
              <a:ea typeface="+mn-lt"/>
              <a:cs typeface="Arial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b="1" dirty="0">
                <a:solidFill>
                  <a:srgbClr val="404040"/>
                </a:solidFill>
                <a:latin typeface="Avenir Next LT Pro"/>
                <a:ea typeface="+mn-lt"/>
                <a:cs typeface="Arial"/>
              </a:rPr>
              <a:t>Best Model:</a:t>
            </a:r>
            <a:endParaRPr lang="en-US" sz="2400" b="1" dirty="0">
              <a:latin typeface="Avenir Next LT Pro"/>
              <a:ea typeface="+mn-lt"/>
              <a:cs typeface="Arial"/>
            </a:endParaRP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buFont typeface="Arial,Sans-Serif" panose="020B0604020202020204" pitchFamily="34" charset="0"/>
            </a:pPr>
            <a:r>
              <a:rPr lang="en-US" sz="2400" dirty="0">
                <a:solidFill>
                  <a:srgbClr val="404040"/>
                </a:solidFill>
                <a:latin typeface="Avenir Next LT Pro"/>
                <a:ea typeface="+mn-lt"/>
                <a:cs typeface="Arial"/>
              </a:rPr>
              <a:t>Hind Density </a:t>
            </a:r>
            <a:endParaRPr lang="en-US" sz="2400" dirty="0">
              <a:latin typeface="Avenir Next LT Pro"/>
              <a:ea typeface="+mn-lt"/>
              <a:cs typeface="Arial"/>
            </a:endParaRP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buFont typeface="Arial,Sans-Serif" panose="020B0604020202020204" pitchFamily="34" charset="0"/>
            </a:pPr>
            <a:r>
              <a:rPr lang="en-US" sz="2400" dirty="0">
                <a:solidFill>
                  <a:srgbClr val="404040"/>
                </a:solidFill>
                <a:latin typeface="Avenir Next LT Pro"/>
                <a:ea typeface="+mn-lt"/>
                <a:cs typeface="Arial"/>
              </a:rPr>
              <a:t>Without Deer Year</a:t>
            </a:r>
            <a:endParaRPr lang="en-US" sz="2400">
              <a:solidFill>
                <a:srgbClr val="000000"/>
              </a:solidFill>
              <a:latin typeface="Avenir Next LT Pro"/>
              <a:ea typeface="+mn-lt"/>
              <a:cs typeface="Arial"/>
            </a:endParaRP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buFont typeface="Arial,Sans-Serif" panose="020B0604020202020204" pitchFamily="34" charset="0"/>
            </a:pPr>
            <a:r>
              <a:rPr lang="en-US" sz="2400" dirty="0">
                <a:solidFill>
                  <a:srgbClr val="404040"/>
                </a:solidFill>
                <a:latin typeface="Avenir Next LT Pro"/>
                <a:ea typeface="+mn-lt"/>
                <a:cs typeface="Arial"/>
              </a:rPr>
              <a:t>AIC: </a:t>
            </a:r>
            <a:r>
              <a:rPr lang="en-US" sz="2400" dirty="0">
                <a:solidFill>
                  <a:srgbClr val="404040"/>
                </a:solidFill>
                <a:ea typeface="+mn-lt"/>
                <a:cs typeface="+mn-lt"/>
              </a:rPr>
              <a:t>6355.8</a:t>
            </a:r>
            <a:endParaRPr lang="en-US" sz="2400" dirty="0">
              <a:latin typeface="Avenir Next LT Pro"/>
              <a:ea typeface="+mn-lt"/>
              <a:cs typeface="Arial"/>
            </a:endParaRP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buFont typeface="Arial,Sans-Serif" panose="020B0604020202020204" pitchFamily="34" charset="0"/>
            </a:pPr>
            <a:endParaRPr lang="en-US" sz="2400" dirty="0">
              <a:latin typeface="Avenir Next LT Pro"/>
              <a:ea typeface="+mn-lt"/>
              <a:cs typeface="Arial"/>
            </a:endParaRP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buFont typeface="Arial,Sans-Serif" panose="020B0604020202020204" pitchFamily="34" charset="0"/>
              <a:buChar char="•"/>
            </a:pPr>
            <a:r>
              <a:rPr lang="en-US" sz="2400" dirty="0">
                <a:solidFill>
                  <a:srgbClr val="404040"/>
                </a:solidFill>
                <a:latin typeface="Avenir Next LT Pro"/>
                <a:ea typeface="+mn-lt"/>
                <a:cs typeface="Arial"/>
              </a:rPr>
              <a:t>Density Effect Size: </a:t>
            </a:r>
            <a:endParaRPr lang="en-US" sz="2400" dirty="0">
              <a:latin typeface="Avenir Next LT Pro"/>
              <a:ea typeface="+mn-lt"/>
              <a:cs typeface="Arial"/>
            </a:endParaRP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buFont typeface="Arial,Sans-Serif" panose="020B0604020202020204" pitchFamily="34" charset="0"/>
            </a:pPr>
            <a:r>
              <a:rPr lang="en-US" sz="2400" dirty="0">
                <a:solidFill>
                  <a:srgbClr val="404040"/>
                </a:solidFill>
                <a:ea typeface="+mn-lt"/>
                <a:cs typeface="+mn-lt"/>
              </a:rPr>
              <a:t>-0.0183</a:t>
            </a:r>
            <a:r>
              <a:rPr lang="en-US" sz="2400" dirty="0">
                <a:solidFill>
                  <a:srgbClr val="404040"/>
                </a:solidFill>
                <a:latin typeface="Avenir Next LT Pro"/>
                <a:ea typeface="+mn-lt"/>
                <a:cs typeface="Arial"/>
              </a:rPr>
              <a:t> (p = </a:t>
            </a:r>
            <a:r>
              <a:rPr lang="en-US" sz="2400" dirty="0">
                <a:solidFill>
                  <a:srgbClr val="404040"/>
                </a:solidFill>
                <a:ea typeface="+mn-lt"/>
                <a:cs typeface="+mn-lt"/>
              </a:rPr>
              <a:t>2.26e-07)</a:t>
            </a:r>
            <a:endParaRPr lang="en-US" sz="2400" dirty="0">
              <a:latin typeface="Avenir Next LT Pro"/>
              <a:ea typeface="+mn-lt"/>
              <a:cs typeface="Arial"/>
            </a:endParaRPr>
          </a:p>
          <a:p>
            <a:endParaRPr lang="en-US" sz="2400" dirty="0">
              <a:solidFill>
                <a:srgbClr val="000000"/>
              </a:solidFill>
              <a:cs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C3D3DA-8E2F-9682-E2AA-676EFAC6C489}"/>
              </a:ext>
            </a:extLst>
          </p:cNvPr>
          <p:cNvSpPr txBox="1"/>
          <p:nvPr/>
        </p:nvSpPr>
        <p:spPr>
          <a:xfrm>
            <a:off x="943155" y="741872"/>
            <a:ext cx="10276935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err="1"/>
              <a:t>glmmTMB</a:t>
            </a:r>
            <a:r>
              <a:rPr lang="en-US" sz="1400" dirty="0"/>
              <a:t>(</a:t>
            </a:r>
            <a:r>
              <a:rPr lang="en-US" sz="1400" err="1"/>
              <a:t>Fecundity~Hinds+Age+AgeSquared+ReprodStatus</a:t>
            </a:r>
            <a:r>
              <a:rPr lang="en-US" sz="1400" dirty="0"/>
              <a:t>+(1|DeerYear)+(1|Female),family = binomial(link = "logit"))</a:t>
            </a:r>
          </a:p>
        </p:txBody>
      </p:sp>
    </p:spTree>
    <p:extLst>
      <p:ext uri="{BB962C8B-B14F-4D97-AF65-F5344CB8AC3E}">
        <p14:creationId xmlns:p14="http://schemas.microsoft.com/office/powerpoint/2010/main" val="66038911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B308828-4749-4D6D-9CEA-433D2BD27E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0" y="0"/>
            <a:ext cx="7724071" cy="6858000"/>
            <a:chOff x="4464881" y="0"/>
            <a:chExt cx="7724071" cy="6858000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FA43358F-8AF6-45AF-B1D4-3EA84DDE72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1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3255" y="0"/>
              <a:ext cx="5115697" cy="6858000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33B887FE-73E4-4849-9FF5-BEBA04068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4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7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5412135" y="-947254"/>
              <a:ext cx="5562598" cy="7457106"/>
            </a:xfrm>
            <a:prstGeom prst="rect">
              <a:avLst/>
            </a:prstGeom>
            <a:effectLst>
              <a:softEdge rad="0"/>
            </a:effectLst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24590D4-0057-C65C-7859-9EE7F7695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1066800"/>
            <a:ext cx="5410200" cy="1997075"/>
          </a:xfrm>
        </p:spPr>
        <p:txBody>
          <a:bodyPr>
            <a:normAutofit/>
          </a:bodyPr>
          <a:lstStyle/>
          <a:p>
            <a:endParaRPr lang="en-US" sz="3600">
              <a:cs typeface="Sabon Next LT"/>
            </a:endParaRPr>
          </a:p>
        </p:txBody>
      </p:sp>
      <p:pic>
        <p:nvPicPr>
          <p:cNvPr id="3" name="Content Placeholder 2" descr="A screenshot of a computer&#10;&#10;Description automatically generated">
            <a:extLst>
              <a:ext uri="{FF2B5EF4-FFF2-40B4-BE49-F238E27FC236}">
                <a16:creationId xmlns:a16="http://schemas.microsoft.com/office/drawing/2014/main" id="{2488910D-E95E-0571-15EA-B7395AD1BD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-952" y="2309"/>
            <a:ext cx="4938739" cy="6839527"/>
          </a:xfrm>
        </p:spPr>
      </p:pic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5596067-029F-57F1-E7C4-CC811EB1FA3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42115" y="4310"/>
            <a:ext cx="7245529" cy="6849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203512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0BABF38A-8A0D-492E-BD20-6CF4D46B5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4"/>
          </a:xfrm>
          <a:prstGeom prst="rect">
            <a:avLst/>
          </a:prstGeom>
          <a:solidFill>
            <a:schemeClr val="bg2">
              <a:lumMod val="9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BC526B7A-4801-4FD1-95C8-03AF22629E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400" y="0"/>
            <a:ext cx="3654612" cy="4575348"/>
          </a:xfrm>
          <a:prstGeom prst="rect">
            <a:avLst/>
          </a:prstGeom>
        </p:spPr>
      </p:pic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4E7CE7A7-0AFD-439B-9765-E708254D9D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39CFBC2-8561-4BBF-BDDE-CF7908C98D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2AAC8F43-3BD7-44FC-843A-972922AF2B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4881" y="0"/>
            <a:ext cx="7724071" cy="6858000"/>
            <a:chOff x="4464881" y="0"/>
            <a:chExt cx="7724071" cy="6858000"/>
          </a:xfrm>
        </p:grpSpPr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1DE643C6-923A-4762-9462-D589A0AED5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alphaModFix amt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3255" y="0"/>
              <a:ext cx="5115697" cy="6858000"/>
            </a:xfrm>
            <a:prstGeom prst="rect">
              <a:avLst/>
            </a:prstGeom>
          </p:spPr>
        </p:pic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51AB708F-73DA-4CC8-89B1-8EB70ABB3A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4">
              <a:alphaModFix amt="1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5412135" y="-947254"/>
              <a:ext cx="5562598" cy="7457106"/>
            </a:xfrm>
            <a:prstGeom prst="rect">
              <a:avLst/>
            </a:prstGeom>
            <a:effectLst>
              <a:softEdge rad="0"/>
            </a:effectLst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02CF0D3-6633-29E2-9B7B-FA888BA8B3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3848" y="1295400"/>
            <a:ext cx="7010400" cy="260492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 dirty="0">
                <a:solidFill>
                  <a:srgbClr val="FFFFFF"/>
                </a:solidFill>
              </a:rPr>
              <a:t>Discussion &amp; Conclusion</a:t>
            </a:r>
          </a:p>
        </p:txBody>
      </p:sp>
    </p:spTree>
    <p:extLst>
      <p:ext uri="{BB962C8B-B14F-4D97-AF65-F5344CB8AC3E}">
        <p14:creationId xmlns:p14="http://schemas.microsoft.com/office/powerpoint/2010/main" val="230016501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3A9B7B3-F171-4C25-99FC-C54250F06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2D5C7C5-9C27-4A61-9F57-1857D45320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lumMod val="9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2B335A1-0110-4D6F-BC0E-DCDCB43203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4881" y="0"/>
            <a:ext cx="7724071" cy="6858000"/>
            <a:chOff x="4464881" y="0"/>
            <a:chExt cx="7724071" cy="6858000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3B05D9A1-5C36-49D4-8D83-8782DE1E1B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1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3255" y="0"/>
              <a:ext cx="5115697" cy="685800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3D2C8D16-C3E9-4377-B192-9F3B9A8673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4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7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5412135" y="-947254"/>
              <a:ext cx="5562598" cy="7457106"/>
            </a:xfrm>
            <a:prstGeom prst="rect">
              <a:avLst/>
            </a:prstGeom>
            <a:effectLst>
              <a:softEdge rad="0"/>
            </a:effectLst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91F2CB4-1960-E2E6-05FA-D0F112AAD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4391" y="381000"/>
            <a:ext cx="10003218" cy="2057400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cs typeface="Sabon Next LT"/>
              </a:rPr>
              <a:t>Density dependence</a:t>
            </a:r>
            <a:endParaRPr lang="en-US"/>
          </a:p>
        </p:txBody>
      </p:sp>
      <p:pic>
        <p:nvPicPr>
          <p:cNvPr id="852" name="Picture 851">
            <a:extLst>
              <a:ext uri="{FF2B5EF4-FFF2-40B4-BE49-F238E27FC236}">
                <a16:creationId xmlns:a16="http://schemas.microsoft.com/office/drawing/2014/main" id="{BFCBDD68-5E34-1BC8-C5DA-CB4EEAFA1B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9810" y="2448318"/>
            <a:ext cx="11732381" cy="3387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49182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BCCEEC-301D-F831-EFA7-B03242D89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Sabon Next LT"/>
              </a:rPr>
              <a:t>Deer Year as a Fixed Effect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7A0577-CB7B-730F-8C24-6F0AD5D416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Only improved the model fit for Yearling Spike Length</a:t>
            </a:r>
          </a:p>
          <a:p>
            <a:r>
              <a:rPr lang="en-US" dirty="0"/>
              <a:t>Not applicable to all traits</a:t>
            </a:r>
          </a:p>
          <a:p>
            <a:r>
              <a:rPr lang="en-US" dirty="0">
                <a:ea typeface="+mn-lt"/>
                <a:cs typeface="+mn-lt"/>
              </a:rPr>
              <a:t>For Birth Weight, First Winter Survival, Fecundity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Temporal trends did not have a substantial effect 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Density models with year as a random effect</a:t>
            </a:r>
            <a:r>
              <a:rPr lang="en-US" dirty="0"/>
              <a:t> are sufficient</a:t>
            </a:r>
          </a:p>
        </p:txBody>
      </p:sp>
    </p:spTree>
    <p:extLst>
      <p:ext uri="{BB962C8B-B14F-4D97-AF65-F5344CB8AC3E}">
        <p14:creationId xmlns:p14="http://schemas.microsoft.com/office/powerpoint/2010/main" val="162809773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BC8BBE5-981E-4B0B-9654-32B5668BFF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lumMod val="9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ED5E97A-D21B-4AA4-83CF-DA3A380E30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0" y="0"/>
            <a:ext cx="7724071" cy="6858000"/>
            <a:chOff x="4464881" y="0"/>
            <a:chExt cx="7724071" cy="6858000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8AF5706D-4464-450F-93F4-853EDF68CE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1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3255" y="0"/>
              <a:ext cx="5115697" cy="685800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3E0FB244-C158-43A9-AD7A-05DC5BBF6D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4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7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5412135" y="-947254"/>
              <a:ext cx="5562598" cy="7457106"/>
            </a:xfrm>
            <a:prstGeom prst="rect">
              <a:avLst/>
            </a:prstGeom>
            <a:effectLst>
              <a:softEdge rad="0"/>
            </a:effectLst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0E5F454-B201-AD91-1EC4-0B2D4D13A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9533" y="369278"/>
            <a:ext cx="7126514" cy="1348247"/>
          </a:xfrm>
        </p:spPr>
        <p:txBody>
          <a:bodyPr>
            <a:normAutofit/>
          </a:bodyPr>
          <a:lstStyle/>
          <a:p>
            <a:r>
              <a:rPr lang="en-US" dirty="0">
                <a:cs typeface="Sabon Next LT"/>
              </a:rPr>
              <a:t>Implications to Management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EADEFB-FEC4-0385-FBF8-2A17973080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7915" y="1987249"/>
            <a:ext cx="7029389" cy="3519022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>
                <a:ea typeface="+mn-lt"/>
                <a:cs typeface="+mn-lt"/>
              </a:rPr>
              <a:t>Fecundity is the most sensitive to density</a:t>
            </a:r>
          </a:p>
          <a:p>
            <a:r>
              <a:rPr lang="en-US" dirty="0">
                <a:ea typeface="+mn-lt"/>
                <a:cs typeface="+mn-lt"/>
              </a:rPr>
              <a:t>Indiscriminate culling is not the solution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Counterproductive rebound effect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Over-culling can be just as detrimental</a:t>
            </a:r>
          </a:p>
          <a:p>
            <a:r>
              <a:rPr lang="en-US" dirty="0"/>
              <a:t>Maintain </a:t>
            </a:r>
            <a:r>
              <a:rPr lang="en-US" dirty="0">
                <a:ea typeface="+mn-lt"/>
                <a:cs typeface="+mn-lt"/>
              </a:rPr>
              <a:t>a level where density-dependent fecundity does not lead to a rapid rebound</a:t>
            </a:r>
            <a:endParaRPr lang="en-US" dirty="0"/>
          </a:p>
        </p:txBody>
      </p:sp>
      <p:pic>
        <p:nvPicPr>
          <p:cNvPr id="5" name="Picture 4" descr="Exclamation mark on a yellow background">
            <a:extLst>
              <a:ext uri="{FF2B5EF4-FFF2-40B4-BE49-F238E27FC236}">
                <a16:creationId xmlns:a16="http://schemas.microsoft.com/office/drawing/2014/main" id="{683605CF-ED90-0DA7-CDFC-26F680A917E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0873" r="14286"/>
          <a:stretch/>
        </p:blipFill>
        <p:spPr>
          <a:xfrm>
            <a:off x="8094762" y="1"/>
            <a:ext cx="4100429" cy="6858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650940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06C35EF-DBC8-41DC-A647-F1E0F599B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DEB0BA5-59CA-4DBF-A716-BEEC676030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A8545C-2832-4EB7-9624-D6EEA011A8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 flipV="1">
            <a:off x="6951981" y="1"/>
            <a:ext cx="5236971" cy="6858000"/>
            <a:chOff x="20829" y="1"/>
            <a:chExt cx="5236971" cy="6857999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FDDB8A50-D39E-4D33-819B-739ECB9D10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2">
              <a:alphaModFix amt="1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829" y="692703"/>
              <a:ext cx="5236971" cy="6165297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3DCB7945-057F-4373-B268-FF1BE88A4C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2">
              <a:alphaModFix amt="8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154" b="19117"/>
            <a:stretch/>
          </p:blipFill>
          <p:spPr>
            <a:xfrm rot="5400000">
              <a:off x="393956" y="-373126"/>
              <a:ext cx="4197222" cy="4943475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1DA02F0-44B0-8752-8DAD-773B7C9A46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9813"/>
            <a:ext cx="6858000" cy="166457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  <a:cs typeface="Sabon Next LT"/>
              </a:rPr>
              <a:t>References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8E1C1D-3691-C19D-1DFB-91D5A34433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68815"/>
            <a:ext cx="10940727" cy="3944272"/>
          </a:xfrm>
        </p:spPr>
        <p:txBody>
          <a:bodyPr vert="horz" lIns="91440" tIns="45720" rIns="91440" bIns="45720" rtlCol="0" anchor="t">
            <a:normAutofit fontScale="55000" lnSpcReduction="20000"/>
          </a:bodyPr>
          <a:lstStyle/>
          <a:p>
            <a:r>
              <a:rPr lang="en-US" sz="1800" dirty="0">
                <a:solidFill>
                  <a:srgbClr val="FFFFFF"/>
                </a:solidFill>
                <a:ea typeface="+mn-lt"/>
                <a:cs typeface="+mn-lt"/>
              </a:rPr>
              <a:t>Albon, S. D., B. Mitchell, and B. W. Staines. 1983. Fertility And Body Weight In Female Red Deer - A Density-Dependent Relationship. Journal Of Animal Ecology 52:969-980.</a:t>
            </a:r>
            <a:endParaRPr lang="en-US" dirty="0">
              <a:ea typeface="+mn-lt"/>
              <a:cs typeface="+mn-lt"/>
            </a:endParaRPr>
          </a:p>
          <a:p>
            <a:r>
              <a:rPr lang="en-US" sz="1800" dirty="0">
                <a:solidFill>
                  <a:srgbClr val="FFFFFF"/>
                </a:solidFill>
                <a:ea typeface="+mn-lt"/>
                <a:cs typeface="+mn-lt"/>
              </a:rPr>
              <a:t>Clutton-Brock, T. H., M. Major, S. D. Albon, and F. E. Guinness. 1987. Early Development And Population Dynamics In Red Deer .1. Density-Dependent Effects On Juvenile Survival. Journal Of Animal Ecology</a:t>
            </a:r>
          </a:p>
          <a:p>
            <a:r>
              <a:rPr lang="en-US" sz="1800" dirty="0">
                <a:solidFill>
                  <a:srgbClr val="FFFFFF"/>
                </a:solidFill>
                <a:ea typeface="+mn-lt"/>
                <a:cs typeface="+mn-lt"/>
              </a:rPr>
              <a:t>Clutton-Brock, T. H., S. D. Albon, and F. E. Guinness. 1987. Interactions Between Population-Density And Maternal Characteristics Affecting Fecundity And Juvenile Survival In Red Deer. Journal Of Animal Ecology 56:857-871.</a:t>
            </a:r>
          </a:p>
          <a:p>
            <a:r>
              <a:rPr lang="en-US" sz="1800" dirty="0">
                <a:solidFill>
                  <a:srgbClr val="FFFFFF"/>
                </a:solidFill>
                <a:ea typeface="+mn-lt"/>
                <a:cs typeface="+mn-lt"/>
              </a:rPr>
              <a:t>Clutton-Brock, T. H., G. R. Iason, and F. E. Guinness. 1987. Sexual Segregation And Density-Related Changes In Habitat Use In Male And Female Red Deer (Cervus-Elaphus). Journal Of Zoology 211:275-289.</a:t>
            </a:r>
          </a:p>
          <a:p>
            <a:r>
              <a:rPr lang="en-US" sz="1800" dirty="0">
                <a:solidFill>
                  <a:srgbClr val="FFFFFF"/>
                </a:solidFill>
                <a:ea typeface="+mn-lt"/>
                <a:cs typeface="+mn-lt"/>
              </a:rPr>
              <a:t>Coulson, T., E. J. Milner-Gulland, and T. Clutton-Brock. 2000. The relative roles of density and climatic variation on population dynamics and fecundity rates in three contrasting ungulate species. Proceedings Of The Royal Society Of London Series B-Biological Sciences 267:1771-1779.</a:t>
            </a:r>
          </a:p>
          <a:p>
            <a:r>
              <a:rPr lang="en-US" sz="1800" dirty="0">
                <a:solidFill>
                  <a:srgbClr val="FFFFFF"/>
                </a:solidFill>
                <a:ea typeface="+mn-lt"/>
                <a:cs typeface="+mn-lt"/>
              </a:rPr>
              <a:t>Coulson, T., S. Albon, F. Guinness, J. Pemberton, and T. </a:t>
            </a:r>
            <a:r>
              <a:rPr lang="en-US" sz="1800" err="1">
                <a:solidFill>
                  <a:srgbClr val="FFFFFF"/>
                </a:solidFill>
                <a:ea typeface="+mn-lt"/>
                <a:cs typeface="+mn-lt"/>
              </a:rPr>
              <a:t>CluttonBrock</a:t>
            </a:r>
            <a:r>
              <a:rPr lang="en-US" sz="1800" dirty="0">
                <a:solidFill>
                  <a:srgbClr val="FFFFFF"/>
                </a:solidFill>
                <a:ea typeface="+mn-lt"/>
                <a:cs typeface="+mn-lt"/>
              </a:rPr>
              <a:t>. 1997. Population substructure, local density, and calf winter survival in red deer (Cervus elaphus). Ecology 78:852-863.</a:t>
            </a:r>
          </a:p>
          <a:p>
            <a:r>
              <a:rPr lang="en-US" sz="1800" dirty="0">
                <a:solidFill>
                  <a:srgbClr val="FFFFFF"/>
                </a:solidFill>
                <a:ea typeface="+mn-lt"/>
                <a:cs typeface="+mn-lt"/>
              </a:rPr>
              <a:t>Hanski, I., &amp; </a:t>
            </a:r>
            <a:r>
              <a:rPr lang="en-US" sz="1800" dirty="0" err="1">
                <a:solidFill>
                  <a:srgbClr val="FFFFFF"/>
                </a:solidFill>
                <a:ea typeface="+mn-lt"/>
                <a:cs typeface="+mn-lt"/>
              </a:rPr>
              <a:t>Woiwod</a:t>
            </a:r>
            <a:r>
              <a:rPr lang="en-US" sz="1800" dirty="0">
                <a:solidFill>
                  <a:srgbClr val="FFFFFF"/>
                </a:solidFill>
                <a:ea typeface="+mn-lt"/>
                <a:cs typeface="+mn-lt"/>
              </a:rPr>
              <a:t>, I. P. (1993). Spatial synchrony in the dynamics of moth and aphid populations. Journal of Animal Ecology, 656-668.</a:t>
            </a:r>
          </a:p>
          <a:p>
            <a:r>
              <a:rPr lang="en-US" sz="1800" dirty="0">
                <a:solidFill>
                  <a:srgbClr val="FFFFFF"/>
                </a:solidFill>
                <a:ea typeface="+mn-lt"/>
                <a:cs typeface="+mn-lt"/>
              </a:rPr>
              <a:t>Lande, R., S. Engen, B. E. Saether, and T. Coulson. 2006. Estimating density dependence from time series of population age structure. American Naturalist 168:76-87.</a:t>
            </a:r>
          </a:p>
          <a:p>
            <a:r>
              <a:rPr lang="en-US" sz="1800" dirty="0">
                <a:solidFill>
                  <a:srgbClr val="FFFFFF"/>
                </a:solidFill>
                <a:ea typeface="+mn-lt"/>
                <a:cs typeface="+mn-lt"/>
              </a:rPr>
              <a:t>McLoughlin, P. D., M. S. Boyce, T. Coulson, and T. Clutton-Brock. 2006. Lifetime reproductive success and density-dependent, multi-variable resource selection. Proceedings of the Royal Society B-Biological Sciences 273:1449-1454.</a:t>
            </a:r>
            <a:endParaRPr lang="en-US" sz="1800" dirty="0">
              <a:solidFill>
                <a:srgbClr val="FFFFFF"/>
              </a:solidFill>
            </a:endParaRPr>
          </a:p>
          <a:p>
            <a:r>
              <a:rPr lang="en-US" sz="1800" dirty="0">
                <a:solidFill>
                  <a:srgbClr val="FFFFFF"/>
                </a:solidFill>
                <a:ea typeface="+mn-lt"/>
                <a:cs typeface="+mn-lt"/>
              </a:rPr>
              <a:t>Schmidt, K. T., A. Stien, S. D. Albon, and F. E. Guinness. 2001. Antler length of yearling red deer is determined by population density, weather and early life-history. </a:t>
            </a:r>
            <a:r>
              <a:rPr lang="en-US" sz="1800" err="1">
                <a:solidFill>
                  <a:srgbClr val="FFFFFF"/>
                </a:solidFill>
                <a:ea typeface="+mn-lt"/>
                <a:cs typeface="+mn-lt"/>
              </a:rPr>
              <a:t>Oecologia</a:t>
            </a:r>
            <a:r>
              <a:rPr lang="en-US" sz="1800" dirty="0">
                <a:solidFill>
                  <a:srgbClr val="FFFFFF"/>
                </a:solidFill>
                <a:ea typeface="+mn-lt"/>
                <a:cs typeface="+mn-lt"/>
              </a:rPr>
              <a:t> 127:191-197.</a:t>
            </a:r>
          </a:p>
          <a:p>
            <a:r>
              <a:rPr lang="en-US" sz="1800" dirty="0">
                <a:solidFill>
                  <a:srgbClr val="FFFFFF"/>
                </a:solidFill>
                <a:ea typeface="+mn-lt"/>
                <a:cs typeface="+mn-lt"/>
              </a:rPr>
              <a:t>Vickery, W. L., &amp; Nudds, T. D. (1984). Detection of density‐dependent effects in annual duck censuses. Ecology, 65(1), 96-104.</a:t>
            </a:r>
            <a:endParaRPr lang="en-US" sz="18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164918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A4FB2F27-3F7D-440E-A905-86607A926A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678C14-A033-4139-BCA9-8382B03964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lumMod val="9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2D5331B-6E57-4C50-8FBB-4317812889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1219199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FC2975-84E6-CE15-2F5D-96C0C884C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4353" y="2852443"/>
            <a:ext cx="5766057" cy="116261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  <a:cs typeface="Sabon Next LT"/>
              </a:rPr>
              <a:t>The End</a:t>
            </a:r>
            <a:endParaRPr lang="en-US">
              <a:solidFill>
                <a:srgbClr val="FFFFFF"/>
              </a:solidFill>
            </a:endParaRPr>
          </a:p>
        </p:txBody>
      </p:sp>
      <p:pic>
        <p:nvPicPr>
          <p:cNvPr id="4" name="Content Placeholder 3" descr="A goat lying on grass&#10;&#10;Description automatically generated">
            <a:extLst>
              <a:ext uri="{FF2B5EF4-FFF2-40B4-BE49-F238E27FC236}">
                <a16:creationId xmlns:a16="http://schemas.microsoft.com/office/drawing/2014/main" id="{AE617A4A-BE78-FBDF-68F9-CD371DEA8BA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497" b="5437"/>
          <a:stretch/>
        </p:blipFill>
        <p:spPr>
          <a:xfrm rot="16200000">
            <a:off x="-436009" y="436008"/>
            <a:ext cx="6858000" cy="5985983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E4A40E9D-B0FA-4A78-B58C-87A64C4FD5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V="1">
            <a:off x="8727783" y="5080"/>
            <a:ext cx="3464215" cy="4598234"/>
            <a:chOff x="8059620" y="41922"/>
            <a:chExt cx="3997615" cy="6816077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5CEBF341-3BD6-4B3B-9B47-1FCC74EB70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818" b="17291"/>
            <a:stretch/>
          </p:blipFill>
          <p:spPr>
            <a:xfrm flipH="1">
              <a:off x="8059620" y="1345934"/>
              <a:ext cx="3997615" cy="5512065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3078DAA6-6247-4C19-B6CD-81D79702EC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0690"/>
            <a:stretch/>
          </p:blipFill>
          <p:spPr>
            <a:xfrm>
              <a:off x="8915400" y="41922"/>
              <a:ext cx="3141835" cy="681607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5496045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0BABF38A-8A0D-492E-BD20-6CF4D46B5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4"/>
          </a:xfrm>
          <a:prstGeom prst="rect">
            <a:avLst/>
          </a:prstGeom>
          <a:solidFill>
            <a:schemeClr val="bg2">
              <a:lumMod val="9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BC526B7A-4801-4FD1-95C8-03AF22629E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400" y="0"/>
            <a:ext cx="3654612" cy="4575348"/>
          </a:xfrm>
          <a:prstGeom prst="rect">
            <a:avLst/>
          </a:prstGeom>
        </p:spPr>
      </p:pic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DE61FBD7-E37C-4B38-BE44-A6D4978D7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B028756-0FA5-471F-B25F-B44FA1553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lumMod val="9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A19C2C53-C77D-4569-8377-F6307A1056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3048" y="0"/>
            <a:ext cx="7724071" cy="6858000"/>
            <a:chOff x="4464881" y="0"/>
            <a:chExt cx="7724071" cy="6858000"/>
          </a:xfrm>
        </p:grpSpPr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F91D0B37-4004-4E3A-97FE-EF3C057AA4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1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3255" y="0"/>
              <a:ext cx="5115697" cy="6858000"/>
            </a:xfrm>
            <a:prstGeom prst="rect">
              <a:avLst/>
            </a:prstGeom>
          </p:spPr>
        </p:pic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1E0457E7-51E7-4FFE-B085-40494AC3E8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4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7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5412135" y="-947254"/>
              <a:ext cx="5562598" cy="7457106"/>
            </a:xfrm>
            <a:prstGeom prst="rect">
              <a:avLst/>
            </a:prstGeom>
            <a:effectLst>
              <a:softEdge rad="0"/>
            </a:effectLst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713CD75-5ED1-2170-B4DE-F13C74B70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9800" y="744909"/>
            <a:ext cx="5562600" cy="315541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Questions?</a:t>
            </a:r>
          </a:p>
        </p:txBody>
      </p:sp>
      <p:pic>
        <p:nvPicPr>
          <p:cNvPr id="22" name="Graphic 21" descr="Question mark">
            <a:extLst>
              <a:ext uri="{FF2B5EF4-FFF2-40B4-BE49-F238E27FC236}">
                <a16:creationId xmlns:a16="http://schemas.microsoft.com/office/drawing/2014/main" id="{3EFD7B45-995D-BC12-086B-C436D579642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7742" y="1017640"/>
            <a:ext cx="4817466" cy="4817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3409549"/>
      </p:ext>
    </p:extLst>
  </p:cSld>
  <p:clrMapOvr>
    <a:masterClrMapping/>
  </p:clrMapOvr>
</p:sld>
</file>

<file path=ppt/theme/theme1.xml><?xml version="1.0" encoding="utf-8"?>
<a:theme xmlns:a="http://schemas.openxmlformats.org/drawingml/2006/main" name="DappledVTI">
  <a:themeElements>
    <a:clrScheme name="Custom 81">
      <a:dk1>
        <a:sysClr val="windowText" lastClr="000000"/>
      </a:dk1>
      <a:lt1>
        <a:sysClr val="window" lastClr="FFFFFF"/>
      </a:lt1>
      <a:dk2>
        <a:srgbClr val="21363B"/>
      </a:dk2>
      <a:lt2>
        <a:srgbClr val="F4F2F0"/>
      </a:lt2>
      <a:accent1>
        <a:srgbClr val="758468"/>
      </a:accent1>
      <a:accent2>
        <a:srgbClr val="B5A7AC"/>
      </a:accent2>
      <a:accent3>
        <a:srgbClr val="CC9C6F"/>
      </a:accent3>
      <a:accent4>
        <a:srgbClr val="767640"/>
      </a:accent4>
      <a:accent5>
        <a:srgbClr val="A5B295"/>
      </a:accent5>
      <a:accent6>
        <a:srgbClr val="C19DA7"/>
      </a:accent6>
      <a:hlink>
        <a:srgbClr val="D13D6E"/>
      </a:hlink>
      <a:folHlink>
        <a:srgbClr val="6C9D92"/>
      </a:folHlink>
    </a:clrScheme>
    <a:fontScheme name="Custom 67">
      <a:majorFont>
        <a:latin typeface="Sabon Next LT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ppledVTI" id="{204FEFAB-F02B-4FE8-B509-C50A618B972D}" vid="{7EAEADA8-5A8E-45B2-B0E4-448EC7E7A94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38</Slides>
  <Notes>23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39" baseType="lpstr">
      <vt:lpstr>DappledVTI</vt:lpstr>
      <vt:lpstr>Revisiting Density-Dependent Traits in Red Deer on the Isle of Rum with Extended Data and Enhanced Models </vt:lpstr>
      <vt:lpstr>Background</vt:lpstr>
      <vt:lpstr>Density dependence</vt:lpstr>
      <vt:lpstr>Red Deer in Scotland</vt:lpstr>
      <vt:lpstr>Density dependence in Red Deer</vt:lpstr>
      <vt:lpstr>Isle of Rum Red Deer Project</vt:lpstr>
      <vt:lpstr>Density dependence on Rum</vt:lpstr>
      <vt:lpstr>Justification of using hind density</vt:lpstr>
      <vt:lpstr>Justification of using hind density​</vt:lpstr>
      <vt:lpstr>Problem of using hind density</vt:lpstr>
      <vt:lpstr>Correlation between different measures of population sizes</vt:lpstr>
      <vt:lpstr>Deer Density</vt:lpstr>
      <vt:lpstr>Historical Context</vt:lpstr>
      <vt:lpstr>Temporal Trends(Vickery and Nudds 1984; Woiwod and Hanski 1992; Lande et al. 2006)</vt:lpstr>
      <vt:lpstr>Aims</vt:lpstr>
      <vt:lpstr>Research Questions</vt:lpstr>
      <vt:lpstr>Methods</vt:lpstr>
      <vt:lpstr>Density Measures Tested </vt:lpstr>
      <vt:lpstr>Life-History Traits Investigated </vt:lpstr>
      <vt:lpstr>Temporal Detrending</vt:lpstr>
      <vt:lpstr>Generalised Linear Mixed Models  using glmmTMB()</vt:lpstr>
      <vt:lpstr>Model Selection Criteria</vt:lpstr>
      <vt:lpstr>Results</vt:lpstr>
      <vt:lpstr>Birth Weight</vt:lpstr>
      <vt:lpstr>PowerPoint Presentation</vt:lpstr>
      <vt:lpstr>First Winter Survival</vt:lpstr>
      <vt:lpstr>PowerPoint Presentation</vt:lpstr>
      <vt:lpstr>Yearling Spike Length</vt:lpstr>
      <vt:lpstr>PowerPoint Presentation</vt:lpstr>
      <vt:lpstr>Fecundity</vt:lpstr>
      <vt:lpstr>PowerPoint Presentation</vt:lpstr>
      <vt:lpstr>Discussion &amp; Conclusion</vt:lpstr>
      <vt:lpstr>Density dependence</vt:lpstr>
      <vt:lpstr>Deer Year as a Fixed Effect</vt:lpstr>
      <vt:lpstr>Implications to Management</vt:lpstr>
      <vt:lpstr>References</vt:lpstr>
      <vt:lpstr>The End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revision>1489</cp:revision>
  <dcterms:created xsi:type="dcterms:W3CDTF">2013-07-15T20:26:40Z</dcterms:created>
  <dcterms:modified xsi:type="dcterms:W3CDTF">2024-08-01T09:21:38Z</dcterms:modified>
</cp:coreProperties>
</file>